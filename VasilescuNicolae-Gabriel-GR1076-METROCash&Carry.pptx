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3045F-1C6E-40B7-87A9-97DA9AD2BBA1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CC8D-8C8C-469C-8306-3822C0C92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04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F1CC8D-8C8C-469C-8306-3822C0C925C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12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97" name="object 1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2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310437" y="1062037"/>
            <a:ext cx="9525" cy="1762125"/>
          </a:xfrm>
          <a:custGeom>
            <a:avLst/>
            <a:gdLst/>
            <a:ahLst/>
            <a:cxnLst/>
            <a:rect l="l" t="t" r="r" b="b"/>
            <a:pathLst>
              <a:path w="9525" h="1762125">
                <a:moveTo>
                  <a:pt x="4763" y="4763"/>
                </a:moveTo>
                <a:lnTo>
                  <a:pt x="4763" y="17573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35025" y="2816225"/>
            <a:ext cx="6483350" cy="6350"/>
          </a:xfrm>
          <a:custGeom>
            <a:avLst/>
            <a:gdLst/>
            <a:ahLst/>
            <a:cxnLst/>
            <a:rect l="l" t="t" r="r" b="b"/>
            <a:pathLst>
              <a:path w="6483350" h="6350">
                <a:moveTo>
                  <a:pt x="3175" y="3175"/>
                </a:moveTo>
                <a:lnTo>
                  <a:pt x="6480175" y="3175"/>
                </a:lnTo>
              </a:path>
            </a:pathLst>
          </a:custGeom>
          <a:ln w="6350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467600" y="12192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635621" y="12192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803642" y="1219200"/>
            <a:ext cx="120014" cy="119888"/>
          </a:xfrm>
          <a:custGeom>
            <a:avLst/>
            <a:gdLst/>
            <a:ahLst/>
            <a:cxnLst/>
            <a:rect l="l" t="t" r="r" b="b"/>
            <a:pathLst>
              <a:path w="120014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4" y="26797"/>
                  <a:pt x="120014" y="59944"/>
                </a:cubicBezTo>
                <a:cubicBezTo>
                  <a:pt x="120014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467600" y="1387094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635621" y="1387094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803642" y="1387094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59944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971663" y="1387094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467600" y="15549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635621" y="15549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803642" y="1554988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60071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971663" y="15549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139684" y="15549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467600" y="17230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635621" y="17230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803642" y="1723009"/>
            <a:ext cx="120014" cy="119888"/>
          </a:xfrm>
          <a:custGeom>
            <a:avLst/>
            <a:gdLst/>
            <a:ahLst/>
            <a:cxnLst/>
            <a:rect l="l" t="t" r="r" b="b"/>
            <a:pathLst>
              <a:path w="120014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4" y="26797"/>
                  <a:pt x="120014" y="59944"/>
                </a:cubicBezTo>
                <a:cubicBezTo>
                  <a:pt x="120014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971663" y="17230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467600" y="18909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635621" y="18909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803642" y="1890903"/>
            <a:ext cx="120014" cy="119888"/>
          </a:xfrm>
          <a:custGeom>
            <a:avLst/>
            <a:gdLst/>
            <a:ahLst/>
            <a:cxnLst/>
            <a:rect l="l" t="t" r="r" b="b"/>
            <a:pathLst>
              <a:path w="120014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4" y="26797"/>
                  <a:pt x="120014" y="59944"/>
                </a:cubicBezTo>
                <a:cubicBezTo>
                  <a:pt x="120014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971663" y="18909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139684" y="18909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467600" y="20587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635621" y="20587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803642" y="2058797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59944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971663" y="20587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467600" y="22266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635621" y="22266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803642" y="2226691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60071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971663" y="22266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635621" y="23947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971663" y="23947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467600" y="12192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635621" y="12192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803642" y="1219200"/>
            <a:ext cx="120014" cy="119888"/>
          </a:xfrm>
          <a:custGeom>
            <a:avLst/>
            <a:gdLst/>
            <a:ahLst/>
            <a:cxnLst/>
            <a:rect l="l" t="t" r="r" b="b"/>
            <a:pathLst>
              <a:path w="120014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4" y="26797"/>
                  <a:pt x="120014" y="59944"/>
                </a:cubicBezTo>
                <a:cubicBezTo>
                  <a:pt x="120014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467600" y="1387094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635621" y="1387094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803642" y="1387094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59944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971663" y="1387094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467600" y="15549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635621" y="15549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7803642" y="1554988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60071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971663" y="15549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139684" y="15549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467600" y="17230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7635621" y="17230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803642" y="1723009"/>
            <a:ext cx="120014" cy="119888"/>
          </a:xfrm>
          <a:custGeom>
            <a:avLst/>
            <a:gdLst/>
            <a:ahLst/>
            <a:cxnLst/>
            <a:rect l="l" t="t" r="r" b="b"/>
            <a:pathLst>
              <a:path w="120014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4" y="26797"/>
                  <a:pt x="120014" y="59944"/>
                </a:cubicBezTo>
                <a:cubicBezTo>
                  <a:pt x="120014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971663" y="17230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467600" y="18909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635621" y="18909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803642" y="1890903"/>
            <a:ext cx="120014" cy="119888"/>
          </a:xfrm>
          <a:custGeom>
            <a:avLst/>
            <a:gdLst/>
            <a:ahLst/>
            <a:cxnLst/>
            <a:rect l="l" t="t" r="r" b="b"/>
            <a:pathLst>
              <a:path w="120014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4" y="26797"/>
                  <a:pt x="120014" y="59944"/>
                </a:cubicBezTo>
                <a:cubicBezTo>
                  <a:pt x="120014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971663" y="18909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139684" y="18909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467600" y="20587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635621" y="20587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803642" y="2058797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59944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971663" y="20587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467600" y="22266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635621" y="22266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803642" y="2226691"/>
            <a:ext cx="120014" cy="120015"/>
          </a:xfrm>
          <a:custGeom>
            <a:avLst/>
            <a:gdLst/>
            <a:ahLst/>
            <a:cxnLst/>
            <a:rect l="l" t="t" r="r" b="b"/>
            <a:pathLst>
              <a:path w="120014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4" y="26924"/>
                  <a:pt x="120014" y="60071"/>
                </a:cubicBezTo>
                <a:cubicBezTo>
                  <a:pt x="120014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971663" y="22266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635621" y="23947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971663" y="23947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text 1"/>
          <p:cNvSpPr txBox="1"/>
          <p:nvPr/>
        </p:nvSpPr>
        <p:spPr>
          <a:xfrm>
            <a:off x="814243" y="1851220"/>
            <a:ext cx="6348896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Cibernetica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sistemelor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economice</a:t>
            </a:r>
            <a:endParaRPr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 1"/>
          <p:cNvSpPr txBox="1"/>
          <p:nvPr/>
        </p:nvSpPr>
        <p:spPr>
          <a:xfrm>
            <a:off x="1850609" y="3290633"/>
            <a:ext cx="6671313" cy="29546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en-US" sz="3200" dirty="0" err="1" smtClean="0"/>
              <a:t>Vasilesu</a:t>
            </a:r>
            <a:r>
              <a:rPr lang="en-US" sz="3200" dirty="0" smtClean="0"/>
              <a:t> </a:t>
            </a:r>
            <a:r>
              <a:rPr lang="en-US" sz="3200" dirty="0" err="1" smtClean="0"/>
              <a:t>Nicolae</a:t>
            </a:r>
            <a:r>
              <a:rPr lang="en-US" sz="3200" dirty="0" smtClean="0"/>
              <a:t>-Gabriel</a:t>
            </a:r>
          </a:p>
          <a:p>
            <a:r>
              <a:rPr lang="en-US" sz="3200" dirty="0" err="1" smtClean="0"/>
              <a:t>Grupa</a:t>
            </a:r>
            <a:r>
              <a:rPr lang="en-US" sz="3200" dirty="0" smtClean="0"/>
              <a:t> 1076, </a:t>
            </a:r>
            <a:r>
              <a:rPr lang="en-US" sz="3200" dirty="0" err="1" smtClean="0"/>
              <a:t>seria</a:t>
            </a:r>
            <a:r>
              <a:rPr lang="en-US" sz="3200" dirty="0" smtClean="0"/>
              <a:t> D, </a:t>
            </a:r>
            <a:r>
              <a:rPr lang="en-US" sz="3200" dirty="0" err="1" smtClean="0"/>
              <a:t>Anul</a:t>
            </a:r>
            <a:r>
              <a:rPr lang="en-US" sz="3200" dirty="0" smtClean="0"/>
              <a:t> 3, CSIE </a:t>
            </a:r>
          </a:p>
          <a:p>
            <a:endParaRPr lang="en-US" sz="3200" dirty="0" smtClean="0"/>
          </a:p>
          <a:p>
            <a:endParaRPr lang="en-US" sz="3200" dirty="0" smtClean="0"/>
          </a:p>
          <a:p>
            <a:endParaRPr lang="en-US" sz="3200" dirty="0" smtClean="0"/>
          </a:p>
          <a:p>
            <a:r>
              <a:rPr lang="en-US" sz="3200" dirty="0" smtClean="0"/>
              <a:t>                          </a:t>
            </a:r>
            <a:r>
              <a:rPr lang="ro-RO" sz="3200" dirty="0" smtClean="0"/>
              <a:t>Prof</a:t>
            </a:r>
            <a:r>
              <a:rPr lang="ro-RO" sz="3200" dirty="0"/>
              <a:t>. univ. dr. Nora </a:t>
            </a:r>
            <a:r>
              <a:rPr lang="ro-RO" sz="3200" dirty="0" err="1"/>
              <a:t>Chirita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97" name="object 97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548640" y="811212"/>
            <a:ext cx="4858381" cy="60016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3900" b="1" spc="10" dirty="0" smtClean="0">
                <a:solidFill>
                  <a:srgbClr val="330066"/>
                </a:solidFill>
                <a:latin typeface="Arial"/>
                <a:cs typeface="Arial"/>
              </a:rPr>
              <a:t>METRO </a:t>
            </a:r>
            <a:r>
              <a:rPr lang="en-US" sz="3900" b="1" spc="10" dirty="0" err="1" smtClean="0">
                <a:solidFill>
                  <a:srgbClr val="330066"/>
                </a:solidFill>
                <a:latin typeface="Arial"/>
                <a:cs typeface="Arial"/>
              </a:rPr>
              <a:t>Cash&amp;Carry</a:t>
            </a:r>
            <a:endParaRPr sz="3900" dirty="0"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304800" y="1558724"/>
            <a:ext cx="8814914" cy="480131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vi-VN" sz="2400" dirty="0" smtClean="0"/>
              <a:t>METRO </a:t>
            </a:r>
            <a:r>
              <a:rPr lang="vi-VN" sz="2400" dirty="0"/>
              <a:t>Cash &amp; Carry este un comerciant cu ridicata </a:t>
            </a:r>
            <a:endParaRPr lang="en-US" sz="2400" dirty="0" smtClean="0"/>
          </a:p>
          <a:p>
            <a:r>
              <a:rPr lang="vi-VN" sz="2400" dirty="0" smtClean="0"/>
              <a:t>internațional </a:t>
            </a:r>
            <a:r>
              <a:rPr lang="vi-VN" sz="2400" dirty="0"/>
              <a:t>cu autoservire. </a:t>
            </a:r>
            <a:endParaRPr lang="en-US" sz="2400" dirty="0" smtClean="0"/>
          </a:p>
          <a:p>
            <a:r>
              <a:rPr lang="vi-VN" sz="2400" dirty="0" smtClean="0"/>
              <a:t>Acesta </a:t>
            </a:r>
            <a:r>
              <a:rPr lang="vi-VN" sz="2400" dirty="0"/>
              <a:t>operează în Europa și în unele țări din Asia și Africa de </a:t>
            </a:r>
            <a:endParaRPr lang="en-US" sz="2400" dirty="0" smtClean="0"/>
          </a:p>
          <a:p>
            <a:r>
              <a:rPr lang="vi-VN" sz="2400" dirty="0" smtClean="0"/>
              <a:t>Nord</a:t>
            </a:r>
            <a:r>
              <a:rPr lang="vi-VN" sz="2400" dirty="0"/>
              <a:t>. Este cea mai mare divizie de vânzări a gigantului german </a:t>
            </a:r>
            <a:endParaRPr lang="en-US" sz="2400" dirty="0" smtClean="0"/>
          </a:p>
          <a:p>
            <a:r>
              <a:rPr lang="vi-VN" sz="2400" dirty="0" smtClean="0"/>
              <a:t>de </a:t>
            </a:r>
            <a:r>
              <a:rPr lang="vi-VN" sz="2400" dirty="0"/>
              <a:t>comerț și retail Metro AG. METRO Cash &amp; Carry este </a:t>
            </a:r>
            <a:r>
              <a:rPr lang="vi-VN" sz="2400" dirty="0" smtClean="0"/>
              <a:t>diferită</a:t>
            </a:r>
            <a:endParaRPr lang="en-US" sz="2400" dirty="0" smtClean="0"/>
          </a:p>
          <a:p>
            <a:r>
              <a:rPr lang="vi-VN" sz="2400" dirty="0" smtClean="0"/>
              <a:t> </a:t>
            </a:r>
            <a:r>
              <a:rPr lang="vi-VN" sz="2400" dirty="0"/>
              <a:t>de lanțurile de retail B2C (cum ar fi Walmart, Carrefour sau </a:t>
            </a:r>
            <a:endParaRPr lang="en-US" sz="2400" dirty="0" smtClean="0"/>
          </a:p>
          <a:p>
            <a:r>
              <a:rPr lang="vi-VN" sz="2400" dirty="0" smtClean="0"/>
              <a:t>Tesco</a:t>
            </a:r>
            <a:r>
              <a:rPr lang="vi-VN" sz="2400" dirty="0"/>
              <a:t>) în sensul că conceptul său de afaceri se adresează mai </a:t>
            </a:r>
            <a:endParaRPr lang="en-US" sz="2400" dirty="0" smtClean="0"/>
          </a:p>
          <a:p>
            <a:r>
              <a:rPr lang="vi-VN" sz="2400" dirty="0" smtClean="0"/>
              <a:t>degrabă </a:t>
            </a:r>
            <a:r>
              <a:rPr lang="vi-VN" sz="2400" dirty="0"/>
              <a:t>clienților profesioniști decât consumatorilor finali. </a:t>
            </a:r>
            <a:endParaRPr lang="en-US" sz="2400" dirty="0" smtClean="0"/>
          </a:p>
          <a:p>
            <a:r>
              <a:rPr lang="vi-VN" sz="2400" dirty="0" smtClean="0"/>
              <a:t>Conceptul </a:t>
            </a:r>
            <a:r>
              <a:rPr lang="vi-VN" sz="2400" dirty="0"/>
              <a:t>de cash-and-carry se bazează pe achiziționarea de </a:t>
            </a:r>
            <a:endParaRPr lang="en-US" sz="2400" dirty="0" smtClean="0"/>
          </a:p>
          <a:p>
            <a:r>
              <a:rPr lang="vi-VN" sz="2400" dirty="0" smtClean="0"/>
              <a:t>autoservire </a:t>
            </a:r>
            <a:r>
              <a:rPr lang="vi-VN" sz="2400" dirty="0"/>
              <a:t>și în vrac. METRO Cash &amp; Carry este destinat </a:t>
            </a:r>
            <a:endParaRPr lang="en-US" sz="2400" dirty="0" smtClean="0"/>
          </a:p>
          <a:p>
            <a:r>
              <a:rPr lang="vi-VN" sz="2400" dirty="0" smtClean="0"/>
              <a:t>exclusiv </a:t>
            </a:r>
            <a:r>
              <a:rPr lang="vi-VN" sz="2400" dirty="0"/>
              <a:t>clienților înregistrați. Grupurile de clienți principali </a:t>
            </a:r>
            <a:r>
              <a:rPr lang="vi-VN" sz="2400" dirty="0" smtClean="0"/>
              <a:t>sunt</a:t>
            </a:r>
            <a:endParaRPr lang="en-US" sz="2400" dirty="0" smtClean="0"/>
          </a:p>
          <a:p>
            <a:r>
              <a:rPr lang="vi-VN" sz="2400" dirty="0" smtClean="0"/>
              <a:t> </a:t>
            </a:r>
            <a:r>
              <a:rPr lang="vi-VN" sz="2400" dirty="0"/>
              <a:t>hoteluri, restaurante, restaurante, comercianți și alți </a:t>
            </a:r>
            <a:r>
              <a:rPr lang="vi-VN" sz="2400" dirty="0" smtClean="0"/>
              <a:t>profesioniști</a:t>
            </a:r>
            <a:endParaRPr lang="en-US" sz="2400" dirty="0" smtClean="0"/>
          </a:p>
          <a:p>
            <a:r>
              <a:rPr lang="vi-VN" sz="2400" dirty="0" smtClean="0"/>
              <a:t> </a:t>
            </a:r>
            <a:r>
              <a:rPr lang="vi-VN" sz="2400" dirty="0"/>
              <a:t>din domeniul afacerilor.</a:t>
            </a: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129" name="object 129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548640" y="811212"/>
            <a:ext cx="4815421" cy="60016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3900" b="1" spc="10" dirty="0" err="1" smtClean="0">
                <a:solidFill>
                  <a:srgbClr val="330066"/>
                </a:solidFill>
                <a:latin typeface="Arial"/>
                <a:cs typeface="Arial"/>
              </a:rPr>
              <a:t>Descriere</a:t>
            </a:r>
            <a:r>
              <a:rPr lang="en-US" sz="3900" b="1" spc="10" dirty="0" smtClean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lang="en-US" sz="3900" b="1" spc="10" dirty="0" err="1" smtClean="0">
                <a:solidFill>
                  <a:srgbClr val="330066"/>
                </a:solidFill>
                <a:latin typeface="Arial"/>
                <a:cs typeface="Arial"/>
              </a:rPr>
              <a:t>financiara</a:t>
            </a:r>
            <a:endParaRPr sz="3900" dirty="0">
              <a:latin typeface="Arial"/>
              <a:cs typeface="Arial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0" y="1905000"/>
            <a:ext cx="42159923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ro-RO" sz="3200" dirty="0"/>
              <a:t>METRO Cash &amp; Carry International este liderul </a:t>
            </a:r>
            <a:r>
              <a:rPr lang="ro-RO" sz="3200" dirty="0" smtClean="0"/>
              <a:t>mondial</a:t>
            </a:r>
            <a:endParaRPr lang="en-US" sz="3200" dirty="0" smtClean="0"/>
          </a:p>
          <a:p>
            <a:r>
              <a:rPr lang="ro-RO" sz="3200" dirty="0" smtClean="0"/>
              <a:t> </a:t>
            </a:r>
            <a:r>
              <a:rPr lang="ro-RO" sz="3200" dirty="0"/>
              <a:t>pe </a:t>
            </a:r>
            <a:r>
              <a:rPr lang="ro-RO" sz="3200" dirty="0" err="1"/>
              <a:t>piata</a:t>
            </a:r>
            <a:r>
              <a:rPr lang="ro-RO" sz="3200" dirty="0"/>
              <a:t> cash &amp; carry, </a:t>
            </a:r>
            <a:r>
              <a:rPr lang="ro-RO" sz="3200" dirty="0" err="1"/>
              <a:t>detinand</a:t>
            </a:r>
            <a:r>
              <a:rPr lang="ro-RO" sz="3200" dirty="0"/>
              <a:t> 769 de magazine in </a:t>
            </a:r>
            <a:r>
              <a:rPr lang="ro-RO" sz="3200" dirty="0" smtClean="0"/>
              <a:t>25</a:t>
            </a:r>
            <a:endParaRPr lang="en-US" sz="3200" dirty="0" smtClean="0"/>
          </a:p>
          <a:p>
            <a:r>
              <a:rPr lang="ro-RO" sz="3200" dirty="0" smtClean="0"/>
              <a:t> </a:t>
            </a:r>
            <a:r>
              <a:rPr lang="ro-RO" sz="3200" dirty="0"/>
              <a:t>de tari. Cu o </a:t>
            </a:r>
            <a:r>
              <a:rPr lang="ro-RO" sz="3200" dirty="0" err="1"/>
              <a:t>forta</a:t>
            </a:r>
            <a:r>
              <a:rPr lang="ro-RO" sz="3200" dirty="0"/>
              <a:t> de munca la nivel mondial de peste </a:t>
            </a:r>
            <a:endParaRPr lang="en-US" sz="3200" dirty="0" smtClean="0"/>
          </a:p>
          <a:p>
            <a:r>
              <a:rPr lang="ro-RO" sz="3200" dirty="0" smtClean="0"/>
              <a:t>100.000 </a:t>
            </a:r>
            <a:r>
              <a:rPr lang="ro-RO" sz="3200" dirty="0"/>
              <a:t>de </a:t>
            </a:r>
            <a:r>
              <a:rPr lang="ro-RO" sz="3200" dirty="0" err="1"/>
              <a:t>salariati</a:t>
            </a:r>
            <a:r>
              <a:rPr lang="ro-RO" sz="3200" dirty="0"/>
              <a:t>, compania a realizat o </a:t>
            </a:r>
            <a:r>
              <a:rPr lang="ro-RO" sz="3200" dirty="0" err="1"/>
              <a:t>vanzari</a:t>
            </a:r>
            <a:r>
              <a:rPr lang="ro-RO" sz="3200" dirty="0"/>
              <a:t> </a:t>
            </a:r>
            <a:r>
              <a:rPr lang="ro-RO" sz="3200" dirty="0" smtClean="0"/>
              <a:t>de</a:t>
            </a:r>
            <a:endParaRPr lang="en-US" sz="3200" dirty="0" smtClean="0"/>
          </a:p>
          <a:p>
            <a:r>
              <a:rPr lang="ro-RO" sz="3200" dirty="0" smtClean="0"/>
              <a:t> </a:t>
            </a:r>
            <a:r>
              <a:rPr lang="ro-RO" sz="3200" dirty="0"/>
              <a:t>29.451 miliarde Euro in 2018.</a:t>
            </a: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object 161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pic>
        <p:nvPicPr>
          <p:cNvPr id="1026" name="Picture 2" descr="Image result for metro cash and carry wik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28" y="320293"/>
            <a:ext cx="7419772" cy="6308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193" name="object 193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548640" y="811212"/>
            <a:ext cx="3408947" cy="60016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3900" b="1" spc="10" dirty="0" err="1" smtClean="0">
                <a:solidFill>
                  <a:srgbClr val="330066"/>
                </a:solidFill>
                <a:latin typeface="Arial"/>
                <a:cs typeface="Arial"/>
              </a:rPr>
              <a:t>Analiza</a:t>
            </a:r>
            <a:r>
              <a:rPr lang="en-US" sz="3900" b="1" spc="10" dirty="0" smtClean="0">
                <a:solidFill>
                  <a:srgbClr val="330066"/>
                </a:solidFill>
                <a:latin typeface="Arial"/>
                <a:cs typeface="Arial"/>
              </a:rPr>
              <a:t> SWOT</a:t>
            </a:r>
            <a:endParaRPr sz="3900" dirty="0">
              <a:latin typeface="Arial"/>
              <a:cs typeface="Arial"/>
            </a:endParaRPr>
          </a:p>
        </p:txBody>
      </p:sp>
      <p:pic>
        <p:nvPicPr>
          <p:cNvPr id="2050" name="Picture 2" descr="Image result for ANALIZA swo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1900582"/>
            <a:ext cx="8031670" cy="4957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225" name="object 225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text 1"/>
          <p:cNvSpPr txBox="1"/>
          <p:nvPr/>
        </p:nvSpPr>
        <p:spPr>
          <a:xfrm>
            <a:off x="762000" y="1752600"/>
            <a:ext cx="7886924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o-RO" sz="2000" dirty="0" smtClean="0"/>
              <a:t>Utilizarea </a:t>
            </a:r>
            <a:r>
              <a:rPr lang="ro-RO" sz="2000" dirty="0"/>
              <a:t>sistemelor </a:t>
            </a:r>
            <a:r>
              <a:rPr lang="ro-RO" sz="2000" dirty="0" err="1"/>
              <a:t>informationale</a:t>
            </a:r>
            <a:r>
              <a:rPr lang="ro-RO" sz="2000" dirty="0"/>
              <a:t> performante (</a:t>
            </a:r>
            <a:r>
              <a:rPr lang="ro-RO" sz="2000" dirty="0" err="1"/>
              <a:t>sitem</a:t>
            </a:r>
            <a:r>
              <a:rPr lang="ro-RO" sz="2000" dirty="0"/>
              <a:t> plata </a:t>
            </a:r>
            <a:r>
              <a:rPr lang="ro-RO" sz="2000" dirty="0" err="1"/>
              <a:t>card</a:t>
            </a:r>
            <a:r>
              <a:rPr lang="ro-RO" sz="2000" dirty="0"/>
              <a:t>, organizare interna a firmei, </a:t>
            </a:r>
            <a:r>
              <a:rPr lang="ro-RO" sz="2000" dirty="0" err="1"/>
              <a:t>retea</a:t>
            </a:r>
            <a:r>
              <a:rPr lang="ro-RO" sz="2000" dirty="0"/>
              <a:t> proprie de telefonie, etc</a:t>
            </a:r>
            <a:r>
              <a:rPr lang="ro-RO" sz="2000" dirty="0" smtClean="0"/>
              <a:t>.)</a:t>
            </a:r>
            <a:endParaRPr lang="en-US" sz="2000" dirty="0" smtClean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o-RO" sz="2000" dirty="0"/>
              <a:t>Amplasarea la periferia </a:t>
            </a:r>
            <a:r>
              <a:rPr lang="ro-RO" sz="2000" dirty="0" err="1" smtClean="0"/>
              <a:t>oraselor</a:t>
            </a:r>
            <a:endParaRPr lang="en-US" sz="2000" dirty="0" smtClean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o-RO" sz="2000" dirty="0"/>
              <a:t>Gama larga de </a:t>
            </a:r>
            <a:r>
              <a:rPr lang="ro-RO" sz="2000" dirty="0" smtClean="0"/>
              <a:t>produse</a:t>
            </a:r>
            <a:endParaRPr lang="en-US" sz="2000" dirty="0" smtClean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o-RO" sz="2000" dirty="0"/>
              <a:t>Politica de </a:t>
            </a:r>
            <a:r>
              <a:rPr lang="ro-RO" sz="2000" dirty="0" err="1"/>
              <a:t>pret</a:t>
            </a:r>
            <a:r>
              <a:rPr lang="ro-RO" sz="2000" dirty="0"/>
              <a:t> si </a:t>
            </a:r>
            <a:r>
              <a:rPr lang="ro-RO" sz="2000" dirty="0" smtClean="0"/>
              <a:t>promovare</a:t>
            </a:r>
            <a:endParaRPr lang="en-US" sz="2000" dirty="0" smtClean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o-RO" sz="2000" dirty="0" err="1"/>
              <a:t>Parcari</a:t>
            </a:r>
            <a:r>
              <a:rPr lang="ro-RO" sz="2000" dirty="0"/>
              <a:t> mari si amplasarea </a:t>
            </a:r>
            <a:r>
              <a:rPr lang="ro-RO" sz="2000" dirty="0" err="1"/>
              <a:t>statiilor</a:t>
            </a:r>
            <a:r>
              <a:rPr lang="ro-RO" sz="2000" dirty="0"/>
              <a:t> de transport in comun in </a:t>
            </a:r>
            <a:r>
              <a:rPr lang="ro-RO" sz="2000" dirty="0" err="1"/>
              <a:t>vecinatatea</a:t>
            </a:r>
            <a:r>
              <a:rPr lang="ro-RO" sz="2000" dirty="0"/>
              <a:t> magazinelor</a:t>
            </a:r>
            <a:endParaRPr lang="en-US" sz="2000" dirty="0" smtClean="0">
              <a:latin typeface="Arial"/>
              <a:cs typeface="Arial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sz="2000" dirty="0">
              <a:latin typeface="Arial"/>
              <a:cs typeface="Arial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548640" y="811212"/>
            <a:ext cx="2602957" cy="60016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3900" b="1" spc="10" dirty="0" err="1" smtClean="0">
                <a:solidFill>
                  <a:srgbClr val="330066"/>
                </a:solidFill>
                <a:latin typeface="Arial"/>
                <a:cs typeface="Arial"/>
              </a:rPr>
              <a:t>Puncte</a:t>
            </a:r>
            <a:r>
              <a:rPr lang="en-US" sz="3900" b="1" spc="10" dirty="0" smtClean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lang="en-US" sz="3900" b="1" spc="10" dirty="0" err="1" smtClean="0">
                <a:solidFill>
                  <a:srgbClr val="330066"/>
                </a:solidFill>
                <a:latin typeface="Arial"/>
                <a:cs typeface="Arial"/>
              </a:rPr>
              <a:t>tari</a:t>
            </a:r>
            <a:endParaRPr sz="39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257" name="object 257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548640" y="811212"/>
            <a:ext cx="3107582" cy="60016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3900" b="1" spc="10" dirty="0" err="1" smtClean="0">
                <a:solidFill>
                  <a:srgbClr val="330066"/>
                </a:solidFill>
                <a:latin typeface="Arial"/>
                <a:cs typeface="Arial"/>
              </a:rPr>
              <a:t>Puncte</a:t>
            </a:r>
            <a:r>
              <a:rPr lang="en-US" sz="3900" b="1" spc="10" dirty="0" smtClean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lang="en-US" sz="3900" b="1" spc="10" dirty="0" err="1" smtClean="0">
                <a:solidFill>
                  <a:srgbClr val="330066"/>
                </a:solidFill>
                <a:latin typeface="Arial"/>
                <a:cs typeface="Arial"/>
              </a:rPr>
              <a:t>slabe</a:t>
            </a:r>
            <a:endParaRPr sz="3900" dirty="0">
              <a:latin typeface="Arial"/>
              <a:cs typeface="Arial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946707" y="2324126"/>
            <a:ext cx="7266699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o-RO" sz="2400" dirty="0" err="1"/>
              <a:t>Relatiile</a:t>
            </a:r>
            <a:r>
              <a:rPr lang="ro-RO" sz="2400" dirty="0"/>
              <a:t> cu </a:t>
            </a:r>
            <a:r>
              <a:rPr lang="ro-RO" sz="2400" dirty="0" smtClean="0"/>
              <a:t>furnizorii</a:t>
            </a:r>
            <a:endParaRPr lang="en-US" sz="2400" dirty="0" smtClean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o-RO" sz="2400" dirty="0"/>
              <a:t>Fluxul mare al </a:t>
            </a:r>
            <a:r>
              <a:rPr lang="ro-RO" sz="2400" dirty="0" err="1" smtClean="0"/>
              <a:t>angajatilor</a:t>
            </a:r>
            <a:endParaRPr lang="en-US" sz="2400" dirty="0" smtClean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o-RO" sz="2400" dirty="0"/>
              <a:t>Program de activitate redus</a:t>
            </a:r>
            <a:endParaRPr sz="23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289" name="object 289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548640" y="811212"/>
            <a:ext cx="2881558" cy="60016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3900" b="1" spc="10" dirty="0" err="1" smtClean="0">
                <a:solidFill>
                  <a:srgbClr val="330066"/>
                </a:solidFill>
                <a:latin typeface="Arial"/>
                <a:cs typeface="Arial"/>
              </a:rPr>
              <a:t>Oportunitati</a:t>
            </a:r>
            <a:endParaRPr sz="3900" dirty="0">
              <a:latin typeface="Arial"/>
              <a:cs typeface="Arial"/>
            </a:endParaRPr>
          </a:p>
        </p:txBody>
      </p:sp>
      <p:sp>
        <p:nvSpPr>
          <p:cNvPr id="11" name="text 1"/>
          <p:cNvSpPr txBox="1"/>
          <p:nvPr/>
        </p:nvSpPr>
        <p:spPr>
          <a:xfrm>
            <a:off x="548640" y="1752600"/>
            <a:ext cx="7457122" cy="1538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o-RO" sz="2000" dirty="0"/>
              <a:t>Concurenta </a:t>
            </a:r>
            <a:r>
              <a:rPr lang="ro-RO" sz="2000" dirty="0" smtClean="0"/>
              <a:t>slaba</a:t>
            </a:r>
            <a:endParaRPr lang="en-US" sz="2000" dirty="0" smtClean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o-RO" sz="2000" dirty="0"/>
              <a:t>Cererea </a:t>
            </a:r>
            <a:r>
              <a:rPr lang="ro-RO" sz="2000" dirty="0" err="1"/>
              <a:t>nesatisfacuta</a:t>
            </a:r>
            <a:r>
              <a:rPr lang="ro-RO" sz="2000" dirty="0"/>
              <a:t> a </a:t>
            </a:r>
            <a:r>
              <a:rPr lang="ro-RO" sz="2000" dirty="0" err="1" smtClean="0"/>
              <a:t>populatiei</a:t>
            </a:r>
            <a:endParaRPr lang="en-US" sz="2000" dirty="0" smtClean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o-RO" sz="2000" dirty="0" err="1" smtClean="0"/>
              <a:t>Pozitia</a:t>
            </a:r>
            <a:r>
              <a:rPr lang="ro-RO" sz="2000" dirty="0" smtClean="0"/>
              <a:t> </a:t>
            </a:r>
            <a:r>
              <a:rPr lang="ro-RO" sz="2000" dirty="0"/>
              <a:t>geografica si </a:t>
            </a:r>
            <a:r>
              <a:rPr lang="ro-RO" sz="2000" dirty="0" smtClean="0"/>
              <a:t>localizare</a:t>
            </a:r>
            <a:endParaRPr lang="en-US" sz="2000" dirty="0" smtClean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o-RO" sz="2000" dirty="0" err="1"/>
              <a:t>Cresterea</a:t>
            </a:r>
            <a:r>
              <a:rPr lang="ro-RO" sz="2000" dirty="0"/>
              <a:t> consumului </a:t>
            </a:r>
            <a:r>
              <a:rPr lang="ro-RO" sz="2000" dirty="0" err="1" smtClean="0"/>
              <a:t>populatiei</a:t>
            </a:r>
            <a:endParaRPr lang="en-US" sz="2000" dirty="0" smtClean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o-RO" sz="2000" dirty="0"/>
              <a:t>Utilizarea sistemelor </a:t>
            </a:r>
            <a:r>
              <a:rPr lang="ro-RO" sz="2000" dirty="0" err="1"/>
              <a:t>informationale</a:t>
            </a:r>
            <a:r>
              <a:rPr lang="ro-RO" sz="2000" dirty="0"/>
              <a:t> performante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321" name="object 321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548640" y="811212"/>
            <a:ext cx="2627322" cy="60016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3900" b="1" spc="10" dirty="0" err="1" smtClean="0">
                <a:solidFill>
                  <a:srgbClr val="330066"/>
                </a:solidFill>
                <a:latin typeface="Arial"/>
                <a:cs typeface="Arial"/>
              </a:rPr>
              <a:t>Amenintari</a:t>
            </a:r>
            <a:endParaRPr sz="3900" dirty="0">
              <a:latin typeface="Arial"/>
              <a:cs typeface="Arial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548640" y="1676400"/>
            <a:ext cx="7447597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o-RO" sz="2400" dirty="0"/>
              <a:t>Rata </a:t>
            </a:r>
            <a:r>
              <a:rPr lang="ro-RO" sz="2400" dirty="0" err="1" smtClean="0"/>
              <a:t>inflatiei</a:t>
            </a:r>
            <a:endParaRPr lang="en-US" sz="2400" dirty="0" smtClean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o-RO" sz="2400" dirty="0"/>
              <a:t>Venitul </a:t>
            </a:r>
            <a:r>
              <a:rPr lang="ro-RO" sz="2400" dirty="0" err="1" smtClean="0"/>
              <a:t>populatiei</a:t>
            </a:r>
            <a:endParaRPr lang="en-US" sz="2400" dirty="0" smtClean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o-RO" sz="2400" dirty="0"/>
              <a:t>Pericolul noilor </a:t>
            </a:r>
            <a:r>
              <a:rPr lang="ro-RO" sz="2400" dirty="0" err="1"/>
              <a:t>intrati</a:t>
            </a:r>
            <a:r>
              <a:rPr lang="ro-RO" sz="2400" dirty="0"/>
              <a:t> pe </a:t>
            </a:r>
            <a:r>
              <a:rPr lang="ro-RO" sz="2400" dirty="0" err="1" smtClean="0"/>
              <a:t>piata</a:t>
            </a:r>
            <a:endParaRPr lang="en-US" sz="2400" dirty="0" smtClean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o-RO" sz="2400" dirty="0" err="1"/>
              <a:t>Fluctuatiile</a:t>
            </a:r>
            <a:r>
              <a:rPr lang="ro-RO" sz="2400" dirty="0"/>
              <a:t> cursului </a:t>
            </a:r>
            <a:r>
              <a:rPr lang="ro-RO" sz="2400" dirty="0" smtClean="0"/>
              <a:t>valutar</a:t>
            </a:r>
            <a:endParaRPr lang="en-US" sz="2400" dirty="0" smtClean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o-RO" sz="2400" dirty="0" err="1"/>
              <a:t>Cresterea</a:t>
            </a:r>
            <a:r>
              <a:rPr lang="ro-RO" sz="2400" dirty="0"/>
              <a:t> preturilor</a:t>
            </a:r>
            <a:endParaRPr sz="23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object 353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pic>
        <p:nvPicPr>
          <p:cNvPr id="4098" name="Picture 2" descr="Image result for identificar problem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0301"/>
            <a:ext cx="7433365" cy="602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385" name="object 385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1" name="object 391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2" name="object 392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3" name="object 393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4" name="object 394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5" name="object 395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6" name="object 396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5" name="object 405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6" name="object 406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548640" y="811212"/>
            <a:ext cx="5094023" cy="60016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3900" b="1" spc="10" dirty="0" err="1" smtClean="0">
                <a:solidFill>
                  <a:srgbClr val="330066"/>
                </a:solidFill>
                <a:latin typeface="Arial"/>
                <a:cs typeface="Arial"/>
              </a:rPr>
              <a:t>Problema</a:t>
            </a:r>
            <a:r>
              <a:rPr lang="en-US" sz="3900" b="1" spc="10" dirty="0" smtClean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lang="en-US" sz="3900" b="1" spc="10" dirty="0" err="1" smtClean="0">
                <a:solidFill>
                  <a:srgbClr val="330066"/>
                </a:solidFill>
                <a:latin typeface="Arial"/>
                <a:cs typeface="Arial"/>
              </a:rPr>
              <a:t>identificata</a:t>
            </a:r>
            <a:endParaRPr sz="3900" dirty="0">
              <a:latin typeface="Arial"/>
              <a:cs typeface="Arial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790954"/>
            <a:ext cx="8723798" cy="390876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r>
              <a:rPr lang="ro-RO" sz="3200" dirty="0"/>
              <a:t>METRO </a:t>
            </a:r>
            <a:r>
              <a:rPr lang="ro-RO" sz="3200" dirty="0" err="1"/>
              <a:t>Cash&amp;Carry</a:t>
            </a:r>
            <a:r>
              <a:rPr lang="ro-RO" sz="3200" dirty="0"/>
              <a:t> este un </a:t>
            </a:r>
            <a:r>
              <a:rPr lang="ro-RO" sz="3200" dirty="0" err="1"/>
              <a:t>lang</a:t>
            </a:r>
            <a:r>
              <a:rPr lang="ro-RO" sz="3200" dirty="0"/>
              <a:t> de magazine care </a:t>
            </a:r>
            <a:endParaRPr lang="en-US" sz="3200" dirty="0" smtClean="0"/>
          </a:p>
          <a:p>
            <a:r>
              <a:rPr lang="ro-RO" sz="3200" dirty="0" smtClean="0"/>
              <a:t>se </a:t>
            </a:r>
            <a:r>
              <a:rPr lang="ro-RO" sz="3200" dirty="0" err="1"/>
              <a:t>adreseaza</a:t>
            </a:r>
            <a:r>
              <a:rPr lang="ro-RO" sz="3200" dirty="0"/>
              <a:t> persoanelor juridice. Eu </a:t>
            </a:r>
            <a:r>
              <a:rPr lang="ro-RO" sz="3200" dirty="0" err="1"/>
              <a:t>intotdeauna</a:t>
            </a:r>
            <a:r>
              <a:rPr lang="ro-RO" sz="3200" dirty="0"/>
              <a:t> </a:t>
            </a:r>
            <a:endParaRPr lang="en-US" sz="3200" dirty="0" smtClean="0"/>
          </a:p>
          <a:p>
            <a:r>
              <a:rPr lang="ro-RO" sz="3200" dirty="0" smtClean="0"/>
              <a:t>am </a:t>
            </a:r>
            <a:r>
              <a:rPr lang="ro-RO" sz="3200" dirty="0"/>
              <a:t>considerat ca ar fi ideal ca acest colos sa se </a:t>
            </a:r>
            <a:endParaRPr lang="en-US" sz="3200" dirty="0" smtClean="0"/>
          </a:p>
          <a:p>
            <a:r>
              <a:rPr lang="ro-RO" sz="3200" dirty="0" smtClean="0"/>
              <a:t>adreseze </a:t>
            </a:r>
            <a:r>
              <a:rPr lang="ro-RO" sz="3200" dirty="0"/>
              <a:t>si persoanelor fizice. Am ales sa ridic </a:t>
            </a:r>
            <a:endParaRPr lang="en-US" sz="3200" dirty="0" smtClean="0"/>
          </a:p>
          <a:p>
            <a:r>
              <a:rPr lang="ro-RO" sz="3200" dirty="0" smtClean="0"/>
              <a:t>aceasta </a:t>
            </a:r>
            <a:r>
              <a:rPr lang="ro-RO" sz="3200" dirty="0"/>
              <a:t>problema pentru ca am foarte </a:t>
            </a:r>
            <a:r>
              <a:rPr lang="ro-RO" sz="3200" dirty="0" err="1"/>
              <a:t>multi</a:t>
            </a:r>
            <a:r>
              <a:rPr lang="ro-RO" sz="3200" dirty="0"/>
              <a:t> </a:t>
            </a:r>
            <a:r>
              <a:rPr lang="ro-RO" sz="3200" dirty="0" smtClean="0"/>
              <a:t>prieteni</a:t>
            </a:r>
            <a:endParaRPr lang="en-US" sz="3200" dirty="0" smtClean="0"/>
          </a:p>
          <a:p>
            <a:r>
              <a:rPr lang="ro-RO" sz="3200" dirty="0" smtClean="0"/>
              <a:t> </a:t>
            </a:r>
            <a:r>
              <a:rPr lang="ro-RO" sz="3200" dirty="0"/>
              <a:t>si </a:t>
            </a:r>
            <a:r>
              <a:rPr lang="ro-RO" sz="3200" dirty="0" err="1"/>
              <a:t>apropiati</a:t>
            </a:r>
            <a:r>
              <a:rPr lang="ro-RO" sz="3200" dirty="0"/>
              <a:t> din familie care </a:t>
            </a:r>
            <a:r>
              <a:rPr lang="ro-RO" sz="3200" dirty="0" err="1"/>
              <a:t>imi</a:t>
            </a:r>
            <a:r>
              <a:rPr lang="ro-RO" sz="3200" dirty="0"/>
              <a:t> tot zic ca „nu pot </a:t>
            </a:r>
            <a:endParaRPr lang="en-US" sz="3200" dirty="0" smtClean="0"/>
          </a:p>
          <a:p>
            <a:r>
              <a:rPr lang="ro-RO" sz="3200" dirty="0" smtClean="0"/>
              <a:t>intra </a:t>
            </a:r>
            <a:r>
              <a:rPr lang="ro-RO" sz="3200" dirty="0" err="1"/>
              <a:t>fara</a:t>
            </a:r>
            <a:r>
              <a:rPr lang="ro-RO" sz="3200" dirty="0"/>
              <a:t> </a:t>
            </a:r>
            <a:r>
              <a:rPr lang="ro-RO" sz="3200" dirty="0" err="1"/>
              <a:t>legitimatie</a:t>
            </a:r>
            <a:r>
              <a:rPr lang="ro-RO" sz="3200" dirty="0"/>
              <a:t> in magazin”.</a:t>
            </a:r>
            <a:endParaRPr lang="en-US" sz="3200" dirty="0"/>
          </a:p>
          <a:p>
            <a:pPr marL="0">
              <a:lnSpc>
                <a:spcPct val="100000"/>
              </a:lnSpc>
            </a:pP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object 418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7" name="object 437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8" name="object 438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9" name="object 439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0" name="object 440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1" name="object 441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2" name="object 442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3" name="object 443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4" name="object 444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5" name="object 445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6" name="object 446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7" name="object 447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8" name="object 448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pic>
        <p:nvPicPr>
          <p:cNvPr id="5122" name="Picture 2" descr="Image result for rezolva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91" y="488188"/>
            <a:ext cx="7239000" cy="5988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450" name="object 450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1" name="object 451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2" name="object 452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3" name="object 453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4" name="object 454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5" name="object 455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6" name="object 456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7" name="object 457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8" name="object 458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9" name="object 459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0" name="object 460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1" name="object 461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2" name="object 462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3" name="object 463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4" name="object 464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5" name="object 465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6" name="object 466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7" name="object 467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8" name="object 468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9" name="object 469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0" name="object 470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1" name="object 471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2" name="object 472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3" name="object 473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4" name="object 474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5" name="object 475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6" name="object 476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7" name="object 477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8" name="object 478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9" name="object 479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0" name="object 480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1" name="object 481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548640" y="811212"/>
            <a:ext cx="2377574" cy="60016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sz="3900" b="1" spc="10" dirty="0" err="1" smtClean="0">
                <a:solidFill>
                  <a:srgbClr val="330066"/>
                </a:solidFill>
                <a:latin typeface="Arial"/>
                <a:cs typeface="Arial"/>
              </a:rPr>
              <a:t>Rezolvare</a:t>
            </a:r>
            <a:endParaRPr sz="3900" dirty="0">
              <a:latin typeface="Arial"/>
              <a:cs typeface="Arial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790954"/>
            <a:ext cx="8676296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ro-RO" sz="3200" b="1" i="1" dirty="0"/>
              <a:t> </a:t>
            </a:r>
            <a:r>
              <a:rPr lang="ro-RO" sz="3200" dirty="0" smtClean="0"/>
              <a:t>Pentru </a:t>
            </a:r>
            <a:r>
              <a:rPr lang="ro-RO" sz="3200" dirty="0"/>
              <a:t>a rezolva aceasta problema, eu m-am </a:t>
            </a:r>
            <a:endParaRPr lang="en-US" sz="3200" dirty="0" smtClean="0"/>
          </a:p>
          <a:p>
            <a:r>
              <a:rPr lang="en-US" sz="3200" dirty="0" smtClean="0"/>
              <a:t> </a:t>
            </a:r>
            <a:r>
              <a:rPr lang="ro-RO" sz="3200" dirty="0" err="1" smtClean="0"/>
              <a:t>gandit</a:t>
            </a:r>
            <a:r>
              <a:rPr lang="ro-RO" sz="3200" dirty="0" smtClean="0"/>
              <a:t> </a:t>
            </a:r>
            <a:r>
              <a:rPr lang="ro-RO" sz="3200" dirty="0"/>
              <a:t>ca cel mai bine este ca Metro sa se </a:t>
            </a:r>
            <a:endParaRPr lang="en-US" sz="3200" dirty="0" smtClean="0"/>
          </a:p>
          <a:p>
            <a:r>
              <a:rPr lang="en-US" sz="3200" dirty="0" smtClean="0"/>
              <a:t> </a:t>
            </a:r>
            <a:r>
              <a:rPr lang="ro-RO" sz="3200" dirty="0" smtClean="0"/>
              <a:t>adreseze </a:t>
            </a:r>
            <a:r>
              <a:rPr lang="ro-RO" sz="3200" dirty="0"/>
              <a:t>tuturor </a:t>
            </a:r>
            <a:r>
              <a:rPr lang="ro-RO" sz="3200" dirty="0" err="1"/>
              <a:t>cetatenilor</a:t>
            </a:r>
            <a:r>
              <a:rPr lang="ro-RO" sz="3200" dirty="0"/>
              <a:t> indiferent de </a:t>
            </a:r>
            <a:r>
              <a:rPr lang="ro-RO" sz="3200" dirty="0" smtClean="0"/>
              <a:t>statutul</a:t>
            </a:r>
            <a:endParaRPr lang="en-US" sz="3200" dirty="0" smtClean="0"/>
          </a:p>
          <a:p>
            <a:r>
              <a:rPr lang="ro-RO" sz="3200" dirty="0" smtClean="0"/>
              <a:t> </a:t>
            </a:r>
            <a:r>
              <a:rPr lang="ro-RO" sz="3200" dirty="0"/>
              <a:t>juridic </a:t>
            </a:r>
            <a:r>
              <a:rPr lang="ro-RO" sz="3200" dirty="0" err="1"/>
              <a:t>intrucat</a:t>
            </a:r>
            <a:r>
              <a:rPr lang="ro-RO" sz="3200" dirty="0"/>
              <a:t> ar aduce foarte multe beneficii </a:t>
            </a:r>
            <a:endParaRPr lang="en-US" sz="3200" dirty="0" smtClean="0"/>
          </a:p>
          <a:p>
            <a:r>
              <a:rPr lang="en-US" sz="3200" dirty="0" smtClean="0"/>
              <a:t> </a:t>
            </a:r>
            <a:r>
              <a:rPr lang="ro-RO" sz="3200" dirty="0" err="1" smtClean="0"/>
              <a:t>atat</a:t>
            </a:r>
            <a:r>
              <a:rPr lang="ro-RO" sz="3200" dirty="0" smtClean="0"/>
              <a:t> </a:t>
            </a:r>
            <a:r>
              <a:rPr lang="ro-RO" sz="3200" dirty="0"/>
              <a:t>pe plan financiar cat si pe plan de dezvoltare.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object 482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3" name="object 483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4" name="object 484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5" name="object 485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6" name="object 486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7" name="object 487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8" name="object 488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9" name="object 489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0" name="object 490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1" name="object 491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2" name="object 492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3" name="object 493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4" name="object 494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5" name="object 495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6" name="object 496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7" name="object 497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8" name="object 498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9" name="object 499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0" name="object 500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1" name="object 501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2" name="object 502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3" name="object 503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4" name="object 504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5" name="object 505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6" name="object 506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7" name="object 507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8" name="object 508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9" name="object 509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0" name="object 510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1" name="object 511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2" name="object 512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pic>
        <p:nvPicPr>
          <p:cNvPr id="6146" name="Picture 2" descr="Image result for thanks yo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20293"/>
            <a:ext cx="7467600" cy="6156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237" y="0"/>
            <a:ext cx="9525" cy="1528762"/>
          </a:xfrm>
          <a:prstGeom prst="rect">
            <a:avLst/>
          </a:prstGeom>
        </p:spPr>
      </p:pic>
      <p:sp>
        <p:nvSpPr>
          <p:cNvPr id="679" name="object 679"/>
          <p:cNvSpPr/>
          <p:nvPr/>
        </p:nvSpPr>
        <p:spPr>
          <a:xfrm>
            <a:off x="8153400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0" name="object 680"/>
          <p:cNvSpPr/>
          <p:nvPr/>
        </p:nvSpPr>
        <p:spPr>
          <a:xfrm>
            <a:off x="8321421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1" name="object 681"/>
          <p:cNvSpPr/>
          <p:nvPr/>
        </p:nvSpPr>
        <p:spPr>
          <a:xfrm>
            <a:off x="8489442" y="152400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3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3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3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2" name="object 682"/>
          <p:cNvSpPr/>
          <p:nvPr/>
        </p:nvSpPr>
        <p:spPr>
          <a:xfrm>
            <a:off x="8153400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3" name="object 683"/>
          <p:cNvSpPr/>
          <p:nvPr/>
        </p:nvSpPr>
        <p:spPr>
          <a:xfrm>
            <a:off x="8321421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3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3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4" name="object 684"/>
          <p:cNvSpPr/>
          <p:nvPr/>
        </p:nvSpPr>
        <p:spPr>
          <a:xfrm>
            <a:off x="8489442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5" name="object 685"/>
          <p:cNvSpPr/>
          <p:nvPr/>
        </p:nvSpPr>
        <p:spPr>
          <a:xfrm>
            <a:off x="8657463" y="320293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5"/>
                </a:moveTo>
                <a:cubicBezTo>
                  <a:pt x="0" y="26925"/>
                  <a:pt x="26924" y="0"/>
                  <a:pt x="60071" y="0"/>
                </a:cubicBezTo>
                <a:cubicBezTo>
                  <a:pt x="93218" y="0"/>
                  <a:pt x="120015" y="26925"/>
                  <a:pt x="120015" y="59945"/>
                </a:cubicBezTo>
                <a:cubicBezTo>
                  <a:pt x="120015" y="93092"/>
                  <a:pt x="93218" y="120016"/>
                  <a:pt x="60071" y="120016"/>
                </a:cubicBezTo>
                <a:cubicBezTo>
                  <a:pt x="26924" y="120016"/>
                  <a:pt x="0" y="93092"/>
                  <a:pt x="0" y="59945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6" name="object 686"/>
          <p:cNvSpPr/>
          <p:nvPr/>
        </p:nvSpPr>
        <p:spPr>
          <a:xfrm>
            <a:off x="8153400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7" name="object 687"/>
          <p:cNvSpPr/>
          <p:nvPr/>
        </p:nvSpPr>
        <p:spPr>
          <a:xfrm>
            <a:off x="8321421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8" name="object 688"/>
          <p:cNvSpPr/>
          <p:nvPr/>
        </p:nvSpPr>
        <p:spPr>
          <a:xfrm>
            <a:off x="8489442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9" name="object 689"/>
          <p:cNvSpPr/>
          <p:nvPr/>
        </p:nvSpPr>
        <p:spPr>
          <a:xfrm>
            <a:off x="8657463" y="488188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0" name="object 690"/>
          <p:cNvSpPr/>
          <p:nvPr/>
        </p:nvSpPr>
        <p:spPr>
          <a:xfrm>
            <a:off x="8825484" y="488188"/>
            <a:ext cx="120142" cy="120015"/>
          </a:xfrm>
          <a:custGeom>
            <a:avLst/>
            <a:gdLst/>
            <a:ahLst/>
            <a:cxnLst/>
            <a:rect l="l" t="t" r="r" b="b"/>
            <a:pathLst>
              <a:path w="120142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142" y="26924"/>
                  <a:pt x="120142" y="60071"/>
                </a:cubicBezTo>
                <a:cubicBezTo>
                  <a:pt x="120142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1" name="object 691"/>
          <p:cNvSpPr/>
          <p:nvPr/>
        </p:nvSpPr>
        <p:spPr>
          <a:xfrm>
            <a:off x="8153400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2" name="object 692"/>
          <p:cNvSpPr/>
          <p:nvPr/>
        </p:nvSpPr>
        <p:spPr>
          <a:xfrm>
            <a:off x="8321421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3" name="object 693"/>
          <p:cNvSpPr/>
          <p:nvPr/>
        </p:nvSpPr>
        <p:spPr>
          <a:xfrm>
            <a:off x="8489442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4" name="object 694"/>
          <p:cNvSpPr/>
          <p:nvPr/>
        </p:nvSpPr>
        <p:spPr>
          <a:xfrm>
            <a:off x="8657463" y="656209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5" name="object 695"/>
          <p:cNvSpPr/>
          <p:nvPr/>
        </p:nvSpPr>
        <p:spPr>
          <a:xfrm>
            <a:off x="8153400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6" name="object 696"/>
          <p:cNvSpPr/>
          <p:nvPr/>
        </p:nvSpPr>
        <p:spPr>
          <a:xfrm>
            <a:off x="8321421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7" name="object 697"/>
          <p:cNvSpPr/>
          <p:nvPr/>
        </p:nvSpPr>
        <p:spPr>
          <a:xfrm>
            <a:off x="8489442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8" name="object 698"/>
          <p:cNvSpPr/>
          <p:nvPr/>
        </p:nvSpPr>
        <p:spPr>
          <a:xfrm>
            <a:off x="8657463" y="824103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9" name="object 699"/>
          <p:cNvSpPr/>
          <p:nvPr/>
        </p:nvSpPr>
        <p:spPr>
          <a:xfrm>
            <a:off x="8825484" y="824103"/>
            <a:ext cx="120142" cy="119888"/>
          </a:xfrm>
          <a:custGeom>
            <a:avLst/>
            <a:gdLst/>
            <a:ahLst/>
            <a:cxnLst/>
            <a:rect l="l" t="t" r="r" b="b"/>
            <a:pathLst>
              <a:path w="120142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142" y="26797"/>
                  <a:pt x="120142" y="59944"/>
                </a:cubicBezTo>
                <a:cubicBezTo>
                  <a:pt x="120142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0" name="object 700"/>
          <p:cNvSpPr/>
          <p:nvPr/>
        </p:nvSpPr>
        <p:spPr>
          <a:xfrm>
            <a:off x="8153400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1" name="object 701"/>
          <p:cNvSpPr/>
          <p:nvPr/>
        </p:nvSpPr>
        <p:spPr>
          <a:xfrm>
            <a:off x="8321421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2" name="object 702"/>
          <p:cNvSpPr/>
          <p:nvPr/>
        </p:nvSpPr>
        <p:spPr>
          <a:xfrm>
            <a:off x="8489442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3" name="object 703"/>
          <p:cNvSpPr/>
          <p:nvPr/>
        </p:nvSpPr>
        <p:spPr>
          <a:xfrm>
            <a:off x="8657463" y="991997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59944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59944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4" name="object 704"/>
          <p:cNvSpPr/>
          <p:nvPr/>
        </p:nvSpPr>
        <p:spPr>
          <a:xfrm>
            <a:off x="8153400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5" name="object 705"/>
          <p:cNvSpPr/>
          <p:nvPr/>
        </p:nvSpPr>
        <p:spPr>
          <a:xfrm>
            <a:off x="8321421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3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3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6" name="object 706"/>
          <p:cNvSpPr/>
          <p:nvPr/>
        </p:nvSpPr>
        <p:spPr>
          <a:xfrm>
            <a:off x="8489442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7" name="object 707"/>
          <p:cNvSpPr/>
          <p:nvPr/>
        </p:nvSpPr>
        <p:spPr>
          <a:xfrm>
            <a:off x="8657463" y="1159891"/>
            <a:ext cx="120015" cy="120015"/>
          </a:xfrm>
          <a:custGeom>
            <a:avLst/>
            <a:gdLst/>
            <a:ahLst/>
            <a:cxnLst/>
            <a:rect l="l" t="t" r="r" b="b"/>
            <a:pathLst>
              <a:path w="120015" h="120015">
                <a:moveTo>
                  <a:pt x="0" y="60071"/>
                </a:moveTo>
                <a:cubicBezTo>
                  <a:pt x="0" y="26924"/>
                  <a:pt x="26924" y="0"/>
                  <a:pt x="60071" y="0"/>
                </a:cubicBezTo>
                <a:cubicBezTo>
                  <a:pt x="93218" y="0"/>
                  <a:pt x="120015" y="26924"/>
                  <a:pt x="120015" y="60071"/>
                </a:cubicBezTo>
                <a:cubicBezTo>
                  <a:pt x="120015" y="93091"/>
                  <a:pt x="93218" y="120015"/>
                  <a:pt x="60071" y="120015"/>
                </a:cubicBezTo>
                <a:cubicBezTo>
                  <a:pt x="26924" y="120015"/>
                  <a:pt x="0" y="93091"/>
                  <a:pt x="0" y="60071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8" name="object 708"/>
          <p:cNvSpPr/>
          <p:nvPr/>
        </p:nvSpPr>
        <p:spPr>
          <a:xfrm>
            <a:off x="8321421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3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3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9" name="object 709"/>
          <p:cNvSpPr/>
          <p:nvPr/>
        </p:nvSpPr>
        <p:spPr>
          <a:xfrm>
            <a:off x="8657463" y="1327912"/>
            <a:ext cx="120015" cy="119888"/>
          </a:xfrm>
          <a:custGeom>
            <a:avLst/>
            <a:gdLst/>
            <a:ahLst/>
            <a:cxnLst/>
            <a:rect l="l" t="t" r="r" b="b"/>
            <a:pathLst>
              <a:path w="120015" h="119888">
                <a:moveTo>
                  <a:pt x="0" y="59944"/>
                </a:moveTo>
                <a:cubicBezTo>
                  <a:pt x="0" y="26797"/>
                  <a:pt x="26924" y="0"/>
                  <a:pt x="60071" y="0"/>
                </a:cubicBezTo>
                <a:cubicBezTo>
                  <a:pt x="93218" y="0"/>
                  <a:pt x="120015" y="26797"/>
                  <a:pt x="120015" y="59944"/>
                </a:cubicBezTo>
                <a:cubicBezTo>
                  <a:pt x="120015" y="93091"/>
                  <a:pt x="93218" y="119888"/>
                  <a:pt x="60071" y="119888"/>
                </a:cubicBezTo>
                <a:cubicBezTo>
                  <a:pt x="26924" y="119888"/>
                  <a:pt x="0" y="93091"/>
                  <a:pt x="0" y="59944"/>
                </a:cubicBez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0" name="object 710"/>
          <p:cNvSpPr/>
          <p:nvPr/>
        </p:nvSpPr>
        <p:spPr>
          <a:xfrm>
            <a:off x="452437" y="1519237"/>
            <a:ext cx="7553325" cy="9525"/>
          </a:xfrm>
          <a:custGeom>
            <a:avLst/>
            <a:gdLst/>
            <a:ahLst/>
            <a:cxnLst/>
            <a:rect l="l" t="t" r="r" b="b"/>
            <a:pathLst>
              <a:path w="7553325" h="9525">
                <a:moveTo>
                  <a:pt x="4763" y="4763"/>
                </a:moveTo>
                <a:lnTo>
                  <a:pt x="7548563" y="4763"/>
                </a:lnTo>
              </a:path>
            </a:pathLst>
          </a:custGeom>
          <a:ln w="9525">
            <a:solidFill>
              <a:srgbClr val="66999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ext 1"/>
          <p:cNvSpPr txBox="1"/>
          <p:nvPr/>
        </p:nvSpPr>
        <p:spPr>
          <a:xfrm>
            <a:off x="548640" y="811212"/>
            <a:ext cx="2563012" cy="5527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sz="3900" b="1" spc="10" dirty="0">
                <a:solidFill>
                  <a:srgbClr val="330066"/>
                </a:solidFill>
                <a:latin typeface="Arial"/>
                <a:cs typeface="Arial"/>
              </a:rPr>
              <a:t>Questions</a:t>
            </a:r>
            <a:endParaRPr sz="3900">
              <a:latin typeface="Arial"/>
              <a:cs typeface="Arial"/>
            </a:endParaRPr>
          </a:p>
        </p:txBody>
      </p:sp>
      <p:pic>
        <p:nvPicPr>
          <p:cNvPr id="4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981238"/>
            <a:ext cx="2743200" cy="38905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371</Words>
  <Application>Microsoft Office PowerPoint</Application>
  <PresentationFormat>On-screen Show (4:3)</PresentationFormat>
  <Paragraphs>66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Vasilescu, Gabriel</dc:creator>
  <cp:lastModifiedBy>Vasilescu, Gabriel</cp:lastModifiedBy>
  <cp:revision>4</cp:revision>
  <dcterms:created xsi:type="dcterms:W3CDTF">2018-12-18T08:44:54Z</dcterms:created>
  <dcterms:modified xsi:type="dcterms:W3CDTF">2019-01-02T18:04:04Z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2018-12-18T00:00:00Z</vt:filetime>
  </property>
  <property fmtid="{D5CDD505-2E9C-101B-9397-08002B2CF9AE}" pid="3" name="LastSaved">
    <vt:filetime>2018-12-18T00:00:00Z</vt:filetime>
  </property>
</Properties>
</file>