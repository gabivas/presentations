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4" r:id="rId10"/>
    <p:sldId id="265" r:id="rId11"/>
    <p:sldId id="274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97" name="object 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67600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35621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803642" y="1219200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67600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35621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803642" y="1387094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71663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67600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35621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03642" y="1554988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71663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39684" y="15549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7600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635621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03642" y="1723009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71663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67600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35621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03642" y="1890903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71663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39684" y="18909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467600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35621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03642" y="2058797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971663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67600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35621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803642" y="2226691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971663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635621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971663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467600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35621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803642" y="1219200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467600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35621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803642" y="1387094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971663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467600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635621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803642" y="1554988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971663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139684" y="15549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467600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635621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803642" y="1723009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971663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467600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635621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803642" y="1890903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971663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139684" y="18909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467600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635621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803642" y="2058797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971663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467600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635621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803642" y="2226691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971663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35621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71663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text 1"/>
          <p:cNvSpPr txBox="1"/>
          <p:nvPr/>
        </p:nvSpPr>
        <p:spPr>
          <a:xfrm>
            <a:off x="564428" y="300426"/>
            <a:ext cx="6903172" cy="61555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40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Retele</a:t>
            </a:r>
            <a:r>
              <a:rPr lang="en-US" sz="4000" b="1" spc="10" dirty="0" smtClean="0">
                <a:solidFill>
                  <a:srgbClr val="7030A0"/>
                </a:solidFill>
                <a:latin typeface="Arial"/>
                <a:cs typeface="Arial"/>
              </a:rPr>
              <a:t> in Cloud- </a:t>
            </a:r>
            <a:r>
              <a:rPr lang="en-US" sz="40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Introducere</a:t>
            </a:r>
            <a:endParaRPr sz="40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100" name="text 1"/>
          <p:cNvSpPr txBox="1"/>
          <p:nvPr/>
        </p:nvSpPr>
        <p:spPr>
          <a:xfrm>
            <a:off x="6051489" y="4592527"/>
            <a:ext cx="3072251" cy="184665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000" spc="10" dirty="0" smtClean="0">
                <a:latin typeface="Arial"/>
                <a:cs typeface="Arial"/>
              </a:rPr>
              <a:t>Gabriel Vasilescu</a:t>
            </a:r>
          </a:p>
          <a:p>
            <a:pPr marL="0">
              <a:lnSpc>
                <a:spcPct val="100000"/>
              </a:lnSpc>
            </a:pPr>
            <a:r>
              <a:rPr lang="en-US" sz="3000" spc="10" dirty="0" smtClean="0">
                <a:latin typeface="Arial"/>
                <a:cs typeface="Arial"/>
              </a:rPr>
              <a:t>Andrei </a:t>
            </a:r>
            <a:r>
              <a:rPr lang="en-US" sz="3000" spc="10" dirty="0" err="1" smtClean="0">
                <a:latin typeface="Arial"/>
                <a:cs typeface="Arial"/>
              </a:rPr>
              <a:t>Turcu</a:t>
            </a:r>
            <a:endParaRPr lang="en-US" sz="3000" spc="10" dirty="0" smtClean="0">
              <a:latin typeface="Arial"/>
              <a:cs typeface="Arial"/>
            </a:endParaRPr>
          </a:p>
          <a:p>
            <a:pPr marL="0">
              <a:lnSpc>
                <a:spcPct val="100000"/>
              </a:lnSpc>
            </a:pPr>
            <a:r>
              <a:rPr lang="en-US" sz="3000" spc="10" dirty="0" smtClean="0">
                <a:latin typeface="Arial"/>
                <a:cs typeface="Arial"/>
              </a:rPr>
              <a:t>Cosmin </a:t>
            </a:r>
            <a:r>
              <a:rPr lang="en-US" sz="3000" spc="10" dirty="0" err="1" smtClean="0">
                <a:latin typeface="Arial"/>
                <a:cs typeface="Arial"/>
              </a:rPr>
              <a:t>Chiriac</a:t>
            </a:r>
            <a:endParaRPr lang="en-US" sz="3000" spc="10" dirty="0" smtClean="0">
              <a:latin typeface="Arial"/>
              <a:cs typeface="Arial"/>
            </a:endParaRPr>
          </a:p>
          <a:p>
            <a:pPr marL="0">
              <a:lnSpc>
                <a:spcPct val="100000"/>
              </a:lnSpc>
            </a:pPr>
            <a:r>
              <a:rPr lang="en-US" sz="3000" spc="10" dirty="0" err="1" smtClean="0">
                <a:latin typeface="Arial"/>
                <a:cs typeface="Arial"/>
              </a:rPr>
              <a:t>Mihnea</a:t>
            </a:r>
            <a:r>
              <a:rPr lang="en-US" sz="3000" spc="10" dirty="0" smtClean="0">
                <a:latin typeface="Arial"/>
                <a:cs typeface="Arial"/>
              </a:rPr>
              <a:t> </a:t>
            </a:r>
            <a:r>
              <a:rPr lang="en-US" sz="3000" spc="10" dirty="0" err="1" smtClean="0">
                <a:latin typeface="Arial"/>
                <a:cs typeface="Arial"/>
              </a:rPr>
              <a:t>Vorovenci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3074" name="Picture 2" descr="Image result for cloud 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0" y="1890903"/>
            <a:ext cx="5307970" cy="410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1143000" y="173710"/>
            <a:ext cx="5519524" cy="183127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000" dirty="0"/>
              <a:t/>
            </a:r>
            <a:br>
              <a:rPr lang="en-US" sz="4000" dirty="0"/>
            </a:br>
            <a:r>
              <a:rPr lang="en-US" sz="4000" b="1" dirty="0">
                <a:solidFill>
                  <a:srgbClr val="7030A0"/>
                </a:solidFill>
              </a:rPr>
              <a:t>Ce </a:t>
            </a:r>
            <a:r>
              <a:rPr lang="en-US" sz="4000" b="1" dirty="0" err="1" smtClean="0">
                <a:solidFill>
                  <a:srgbClr val="7030A0"/>
                </a:solidFill>
              </a:rPr>
              <a:t>sunt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Retelele</a:t>
            </a:r>
            <a:r>
              <a:rPr lang="en-US" sz="4000" b="1" dirty="0" smtClean="0">
                <a:solidFill>
                  <a:srgbClr val="7030A0"/>
                </a:solidFill>
              </a:rPr>
              <a:t> in Cloud?</a:t>
            </a:r>
            <a:r>
              <a:rPr lang="en-US" sz="4000" dirty="0">
                <a:solidFill>
                  <a:srgbClr val="7030A0"/>
                </a:solidFill>
              </a:rPr>
              <a:t/>
            </a:r>
            <a:br>
              <a:rPr lang="en-US" sz="4000" dirty="0">
                <a:solidFill>
                  <a:srgbClr val="7030A0"/>
                </a:solidFill>
              </a:rPr>
            </a:b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389089" y="2590800"/>
            <a:ext cx="8865825" cy="19697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dirty="0" err="1" smtClean="0"/>
              <a:t>Ele</a:t>
            </a:r>
            <a:r>
              <a:rPr lang="en-US" sz="3200" dirty="0" smtClean="0"/>
              <a:t> </a:t>
            </a:r>
            <a:r>
              <a:rPr lang="en-US" sz="3200" dirty="0" err="1" smtClean="0"/>
              <a:t>descriu</a:t>
            </a:r>
            <a:r>
              <a:rPr lang="en-US" sz="3200" dirty="0" smtClean="0"/>
              <a:t> </a:t>
            </a:r>
            <a:r>
              <a:rPr lang="en-US" sz="3200" dirty="0" err="1"/>
              <a:t>accesul</a:t>
            </a:r>
            <a:r>
              <a:rPr lang="en-US" sz="3200" dirty="0"/>
              <a:t> la </a:t>
            </a:r>
            <a:r>
              <a:rPr lang="en-US" sz="3200" dirty="0" err="1" smtClean="0"/>
              <a:t>resursele</a:t>
            </a:r>
            <a:r>
              <a:rPr lang="en-US" sz="3200" dirty="0" smtClean="0"/>
              <a:t> de </a:t>
            </a:r>
            <a:r>
              <a:rPr lang="en-US" sz="3200" dirty="0" err="1" smtClean="0"/>
              <a:t>retea</a:t>
            </a:r>
            <a:r>
              <a:rPr lang="en-US" sz="3200" dirty="0" smtClean="0"/>
              <a:t> </a:t>
            </a:r>
            <a:r>
              <a:rPr lang="en-US" sz="3200" dirty="0"/>
              <a:t>de la un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 err="1" smtClean="0"/>
              <a:t>furnizor</a:t>
            </a:r>
            <a:r>
              <a:rPr lang="en-US" sz="3200" dirty="0" smtClean="0"/>
              <a:t> </a:t>
            </a:r>
            <a:r>
              <a:rPr lang="en-US" sz="3200" dirty="0" err="1"/>
              <a:t>centralizat</a:t>
            </a:r>
            <a:r>
              <a:rPr lang="en-US" sz="3200" dirty="0"/>
              <a:t> </a:t>
            </a:r>
            <a:r>
              <a:rPr lang="en-US" sz="3200" dirty="0" err="1"/>
              <a:t>terț</a:t>
            </a:r>
            <a:r>
              <a:rPr lang="en-US" sz="3200" dirty="0"/>
              <a:t> </a:t>
            </a:r>
            <a:r>
              <a:rPr lang="en-US" sz="3200" dirty="0" err="1"/>
              <a:t>utilizând</a:t>
            </a:r>
            <a:r>
              <a:rPr lang="en-US" sz="3200" dirty="0"/>
              <a:t> WAN </a:t>
            </a:r>
            <a:r>
              <a:rPr lang="en-US" sz="3200" dirty="0" err="1"/>
              <a:t>sau</a:t>
            </a:r>
            <a:r>
              <a:rPr lang="en-US" sz="3200" dirty="0"/>
              <a:t> </a:t>
            </a:r>
            <a:r>
              <a:rPr lang="en-US" sz="3200" dirty="0" err="1" smtClean="0"/>
              <a:t>Tehnologii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de </a:t>
            </a:r>
            <a:r>
              <a:rPr lang="en-US" sz="3200" dirty="0" err="1"/>
              <a:t>acces</a:t>
            </a:r>
            <a:r>
              <a:rPr lang="en-US" sz="3200" dirty="0"/>
              <a:t> </a:t>
            </a:r>
            <a:r>
              <a:rPr lang="en-US" sz="3200" dirty="0" err="1"/>
              <a:t>bazate</a:t>
            </a:r>
            <a:r>
              <a:rPr lang="en-US" sz="3200" dirty="0"/>
              <a:t> </a:t>
            </a:r>
            <a:r>
              <a:rPr lang="en-US" sz="3200" dirty="0" err="1"/>
              <a:t>pe</a:t>
            </a:r>
            <a:r>
              <a:rPr lang="en-US" sz="3200" dirty="0"/>
              <a:t> internet.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29" name="object 129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6378349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Schema </a:t>
            </a: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Retelelor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in Cloud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98" y="1985963"/>
            <a:ext cx="8345272" cy="40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61" name="object 16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228600" y="223938"/>
            <a:ext cx="7777162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Retele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in Cloud VS 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Cloud</a:t>
            </a:r>
          </a:p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computing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28600" y="2667000"/>
            <a:ext cx="9250297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vi-VN" sz="3200" dirty="0"/>
              <a:t/>
            </a:r>
            <a:br>
              <a:rPr lang="vi-VN" sz="3200" dirty="0"/>
            </a:br>
            <a:r>
              <a:rPr lang="vi-VN" sz="3200" dirty="0" smtClean="0"/>
              <a:t>Rețe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lele</a:t>
            </a:r>
            <a:r>
              <a:rPr lang="en-US" sz="3200" dirty="0" smtClean="0"/>
              <a:t> in </a:t>
            </a:r>
            <a:r>
              <a:rPr lang="vi-VN" sz="3200" dirty="0" smtClean="0"/>
              <a:t> </a:t>
            </a:r>
            <a:r>
              <a:rPr lang="vi-VN" sz="3200" dirty="0"/>
              <a:t>cloud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sunt</a:t>
            </a:r>
            <a:r>
              <a:rPr lang="en-US" sz="3200" dirty="0" smtClean="0"/>
              <a:t> </a:t>
            </a:r>
            <a:r>
              <a:rPr lang="vi-VN" sz="3200" dirty="0" smtClean="0"/>
              <a:t>legat</a:t>
            </a:r>
            <a:r>
              <a:rPr lang="en-US" sz="3200" dirty="0" smtClean="0"/>
              <a:t>e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strans</a:t>
            </a:r>
            <a:r>
              <a:rPr lang="vi-VN" sz="3200" dirty="0" smtClean="0"/>
              <a:t> de </a:t>
            </a:r>
            <a:r>
              <a:rPr lang="vi-VN" sz="3200" dirty="0"/>
              <a:t>conceptul </a:t>
            </a:r>
            <a:endParaRPr lang="en-US" sz="3200" dirty="0" smtClean="0"/>
          </a:p>
          <a:p>
            <a:r>
              <a:rPr lang="vi-VN" sz="3200" dirty="0" smtClean="0"/>
              <a:t>De</a:t>
            </a:r>
            <a:r>
              <a:rPr lang="en-US" sz="3200" dirty="0"/>
              <a:t> </a:t>
            </a:r>
            <a:r>
              <a:rPr lang="en-US" sz="3200" dirty="0" smtClean="0"/>
              <a:t>cloud </a:t>
            </a:r>
            <a:r>
              <a:rPr lang="vi-VN" sz="3200" dirty="0" smtClean="0"/>
              <a:t>computing</a:t>
            </a:r>
            <a:r>
              <a:rPr lang="vi-VN" sz="3200" dirty="0"/>
              <a:t>, în care </a:t>
            </a:r>
            <a:r>
              <a:rPr lang="vi-VN" sz="3200" dirty="0"/>
              <a:t>resursele </a:t>
            </a:r>
            <a:r>
              <a:rPr lang="vi-VN" sz="3200" dirty="0" smtClean="0"/>
              <a:t>centralizat</a:t>
            </a:r>
            <a:r>
              <a:rPr lang="en-US" sz="3200" dirty="0" smtClean="0"/>
              <a:t>e</a:t>
            </a:r>
            <a:r>
              <a:rPr lang="vi-VN" sz="3200" dirty="0" smtClean="0"/>
              <a:t> </a:t>
            </a:r>
            <a:endParaRPr lang="en-US" sz="3200" dirty="0" smtClean="0"/>
          </a:p>
          <a:p>
            <a:r>
              <a:rPr lang="vi-VN" sz="3200" dirty="0" smtClean="0"/>
              <a:t>sunt </a:t>
            </a:r>
            <a:r>
              <a:rPr lang="vi-VN" sz="3200" dirty="0"/>
              <a:t>distribuite </a:t>
            </a:r>
            <a:r>
              <a:rPr lang="vi-VN" sz="3200" dirty="0" smtClean="0"/>
              <a:t>clienților.</a:t>
            </a:r>
            <a:endParaRPr sz="32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93" name="object 193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7603748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Wireless LAN Leads the Charge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89312" y="2438400"/>
            <a:ext cx="8853386" cy="243143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000" spc="10" dirty="0" smtClean="0">
                <a:latin typeface="Arial"/>
                <a:cs typeface="Arial"/>
              </a:rPr>
              <a:t>	</a:t>
            </a:r>
            <a:r>
              <a:rPr lang="vi-VN" sz="3200" dirty="0"/>
              <a:t/>
            </a:r>
            <a:br>
              <a:rPr lang="vi-VN" sz="3200" dirty="0"/>
            </a:br>
            <a:r>
              <a:rPr lang="en-US" sz="3200" dirty="0" smtClean="0"/>
              <a:t>   </a:t>
            </a:r>
            <a:r>
              <a:rPr lang="vi-VN" sz="3200" dirty="0" smtClean="0"/>
              <a:t>Companiile </a:t>
            </a:r>
            <a:r>
              <a:rPr lang="vi-VN" sz="3200" dirty="0"/>
              <a:t>au popularizat utilizarea </a:t>
            </a:r>
            <a:r>
              <a:rPr lang="vi-VN" sz="3200" dirty="0" smtClean="0"/>
              <a:t>cloud-ului</a:t>
            </a:r>
            <a:r>
              <a:rPr lang="en-US" sz="3200" dirty="0" smtClean="0"/>
              <a:t>,</a:t>
            </a:r>
            <a:r>
              <a:rPr lang="vi-VN" sz="3200" dirty="0" smtClean="0"/>
              <a:t>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vi-VN" sz="3200" dirty="0" smtClean="0"/>
              <a:t>tehnicile </a:t>
            </a:r>
            <a:r>
              <a:rPr lang="vi-VN" sz="3200" dirty="0"/>
              <a:t>de creare de rețele mari, </a:t>
            </a:r>
            <a:r>
              <a:rPr lang="vi-VN" sz="3200" dirty="0" smtClean="0"/>
              <a:t>distribuite</a:t>
            </a:r>
            <a:r>
              <a:rPr lang="en-US" sz="3200" dirty="0" smtClean="0"/>
              <a:t>,</a:t>
            </a:r>
          </a:p>
          <a:p>
            <a:r>
              <a:rPr lang="vi-VN" sz="3200" dirty="0" smtClean="0"/>
              <a:t> </a:t>
            </a:r>
            <a:r>
              <a:rPr lang="vi-VN" sz="3200" dirty="0"/>
              <a:t>LAN-uri fără fir care ar putea fi gestionate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vi-VN" sz="3200" dirty="0" smtClean="0"/>
              <a:t>centralizat </a:t>
            </a:r>
            <a:r>
              <a:rPr lang="vi-VN" sz="3200" dirty="0"/>
              <a:t>în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vi-VN" sz="3200" dirty="0" smtClean="0"/>
              <a:t>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25" name="object 225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text 1"/>
          <p:cNvSpPr txBox="1"/>
          <p:nvPr/>
        </p:nvSpPr>
        <p:spPr>
          <a:xfrm>
            <a:off x="548640" y="811212"/>
            <a:ext cx="5451108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Servicii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Cloud </a:t>
            </a: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si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Tipuri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pic>
        <p:nvPicPr>
          <p:cNvPr id="1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940" y="6442558"/>
            <a:ext cx="1132027" cy="41544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28788"/>
            <a:ext cx="6781799" cy="4582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57" name="object 25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5448286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Software-Defined WAN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0" y="2895600"/>
            <a:ext cx="10215005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dirty="0" smtClean="0"/>
              <a:t>  </a:t>
            </a:r>
            <a:r>
              <a:rPr lang="vi-VN" sz="3200" dirty="0" smtClean="0"/>
              <a:t>Rețe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lele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in</a:t>
            </a:r>
            <a:r>
              <a:rPr lang="vi-V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/>
              <a:t>cloud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sunt</a:t>
            </a:r>
            <a:r>
              <a:rPr lang="en-US" sz="3200" dirty="0" smtClean="0"/>
              <a:t> </a:t>
            </a:r>
            <a:r>
              <a:rPr lang="vi-VN" sz="3200" dirty="0" smtClean="0"/>
              <a:t>o </a:t>
            </a:r>
            <a:r>
              <a:rPr lang="vi-VN" sz="3200" dirty="0"/>
              <a:t>formă de tehnologie de tip </a:t>
            </a:r>
            <a:r>
              <a:rPr lang="en-US" sz="3200" dirty="0" smtClean="0"/>
              <a:t>  </a:t>
            </a:r>
            <a:r>
              <a:rPr lang="vi-VN" sz="3200" dirty="0" smtClean="0"/>
              <a:t>"</a:t>
            </a:r>
            <a:r>
              <a:rPr lang="vi-VN" sz="3200" dirty="0"/>
              <a:t>Software Defined Networking" (SDN), în care pot </a:t>
            </a:r>
            <a:endParaRPr lang="en-US" sz="3200" dirty="0" smtClean="0"/>
          </a:p>
          <a:p>
            <a:r>
              <a:rPr lang="vi-VN" sz="3200" dirty="0" smtClean="0"/>
              <a:t>fi </a:t>
            </a:r>
            <a:r>
              <a:rPr lang="vi-VN" sz="3200" dirty="0"/>
              <a:t>implementate grupuri de switch-uri de rețea </a:t>
            </a:r>
            <a:r>
              <a:rPr lang="vi-VN" sz="3200" dirty="0" smtClean="0"/>
              <a:t>și </a:t>
            </a:r>
            <a:r>
              <a:rPr lang="en-US" sz="3200" dirty="0" smtClean="0"/>
              <a:t> </a:t>
            </a:r>
            <a:r>
              <a:rPr lang="vi-VN" sz="3200" dirty="0" smtClean="0"/>
              <a:t>dispozitive </a:t>
            </a:r>
            <a:r>
              <a:rPr lang="vi-VN" sz="3200" dirty="0"/>
              <a:t>de acces în zona largă, ca resurse </a:t>
            </a:r>
            <a:endParaRPr lang="en-US" sz="3200" dirty="0" smtClean="0"/>
          </a:p>
          <a:p>
            <a:r>
              <a:rPr lang="vi-VN" sz="3200" dirty="0" smtClean="0"/>
              <a:t>partajate</a:t>
            </a:r>
            <a:r>
              <a:rPr lang="vi-VN" sz="3200" dirty="0"/>
              <a:t>, virtuale.</a:t>
            </a:r>
            <a:endParaRPr sz="3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612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57" name="object 25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6960880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Software-Defined WAN- cont.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0" y="1790954"/>
            <a:ext cx="10215005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spc="10" dirty="0">
                <a:latin typeface="Arial"/>
                <a:cs typeface="Arial"/>
              </a:rPr>
              <a:t> </a:t>
            </a:r>
            <a:r>
              <a:rPr lang="en-US" sz="3000" spc="10" dirty="0" smtClean="0">
                <a:latin typeface="Arial"/>
                <a:cs typeface="Arial"/>
              </a:rPr>
              <a:t>    </a:t>
            </a:r>
            <a:r>
              <a:rPr lang="vi-VN" sz="3200" dirty="0" smtClean="0"/>
              <a:t>Conceptul </a:t>
            </a:r>
            <a:r>
              <a:rPr lang="vi-VN" sz="3200" dirty="0"/>
              <a:t>de bază al </a:t>
            </a:r>
            <a:r>
              <a:rPr lang="vi-VN" sz="3200" dirty="0" smtClean="0"/>
              <a:t>rețele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in</a:t>
            </a:r>
            <a:r>
              <a:rPr lang="vi-V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/>
              <a:t>cloud, în care </a:t>
            </a:r>
            <a:endParaRPr lang="en-US" sz="3200" dirty="0" smtClean="0"/>
          </a:p>
          <a:p>
            <a:r>
              <a:rPr lang="vi-VN" sz="3200" dirty="0" smtClean="0"/>
              <a:t>mai </a:t>
            </a:r>
            <a:r>
              <a:rPr lang="vi-VN" sz="3200" dirty="0"/>
              <a:t>puține dispozitive de gestionare sunt instalate </a:t>
            </a:r>
            <a:r>
              <a:rPr lang="en-US" sz="3200" dirty="0" smtClean="0"/>
              <a:t>      </a:t>
            </a:r>
            <a:r>
              <a:rPr lang="vi-VN" sz="3200" dirty="0" smtClean="0"/>
              <a:t>în </a:t>
            </a:r>
            <a:r>
              <a:rPr lang="vi-VN" sz="3200" dirty="0"/>
              <a:t> sucursalele sau sediile clienților și mai multe </a:t>
            </a:r>
            <a:endParaRPr lang="en-US" sz="3200" dirty="0" smtClean="0"/>
          </a:p>
          <a:p>
            <a:r>
              <a:rPr lang="vi-VN" sz="3200" dirty="0" smtClean="0"/>
              <a:t>rute </a:t>
            </a:r>
            <a:r>
              <a:rPr lang="vi-VN" sz="3200" dirty="0"/>
              <a:t> și funcțiile de gestionare sunt împinse către  </a:t>
            </a:r>
            <a:endParaRPr lang="en-US" sz="3200" dirty="0" smtClean="0"/>
          </a:p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vi-VN" sz="3200" dirty="0" smtClean="0"/>
              <a:t>, </a:t>
            </a:r>
            <a:r>
              <a:rPr lang="vi-VN" sz="3200" dirty="0"/>
              <a:t>este acum urmărit, rezultând </a:t>
            </a:r>
            <a:r>
              <a:rPr lang="vi-VN" sz="3200" dirty="0" smtClean="0"/>
              <a:t>o mai</a:t>
            </a:r>
            <a:r>
              <a:rPr lang="en-US" sz="3200" dirty="0" smtClean="0"/>
              <a:t> </a:t>
            </a:r>
          </a:p>
          <a:p>
            <a:r>
              <a:rPr lang="vi-VN" sz="3200" dirty="0" smtClean="0"/>
              <a:t>mare gamă </a:t>
            </a:r>
            <a:r>
              <a:rPr lang="vi-VN" sz="3200" dirty="0"/>
              <a:t>de produse de rețea, care includ </a:t>
            </a:r>
            <a:r>
              <a:rPr lang="en-US" sz="3200" dirty="0" smtClean="0"/>
              <a:t>     </a:t>
            </a:r>
            <a:r>
              <a:rPr lang="vi-VN" sz="3200" dirty="0" smtClean="0"/>
              <a:t>sucursală </a:t>
            </a:r>
            <a:r>
              <a:rPr lang="vi-VN" sz="3200" dirty="0"/>
              <a:t> birouri de rutare, </a:t>
            </a:r>
            <a:r>
              <a:rPr lang="vi-VN" sz="3200" dirty="0" smtClean="0"/>
              <a:t>software </a:t>
            </a:r>
            <a:r>
              <a:rPr lang="vi-VN" sz="3200" dirty="0"/>
              <a:t>de </a:t>
            </a:r>
            <a:r>
              <a:rPr lang="vi-VN" sz="3200" dirty="0" smtClean="0"/>
              <a:t>optimizare</a:t>
            </a:r>
            <a:endParaRPr lang="en-US" sz="3200" dirty="0" smtClean="0"/>
          </a:p>
          <a:p>
            <a:r>
              <a:rPr lang="en-US" sz="3200" dirty="0"/>
              <a:t>-</a:t>
            </a:r>
            <a:r>
              <a:rPr lang="vi-VN" sz="3200" dirty="0" smtClean="0"/>
              <a:t> </a:t>
            </a:r>
            <a:r>
              <a:rPr lang="vi-VN" sz="3200" dirty="0"/>
              <a:t>WAN </a:t>
            </a:r>
            <a:r>
              <a:rPr lang="vi-VN" sz="3200" dirty="0" smtClean="0"/>
              <a:t>și </a:t>
            </a:r>
            <a:r>
              <a:rPr lang="vi-VN" sz="3200" dirty="0"/>
              <a:t> firewall-uri.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321" name="object 32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text 1"/>
          <p:cNvSpPr txBox="1"/>
          <p:nvPr/>
        </p:nvSpPr>
        <p:spPr>
          <a:xfrm>
            <a:off x="901743" y="2667000"/>
            <a:ext cx="7091362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spc="10" dirty="0" smtClean="0">
                <a:latin typeface="Arial"/>
                <a:cs typeface="Arial"/>
              </a:rPr>
              <a:t>   </a:t>
            </a:r>
            <a:r>
              <a:rPr lang="ro-RO" sz="2400" dirty="0"/>
              <a:t>Companiile care urmăresc tehnologia nouă pentru optimizarea conectivității utilizând SD-WAN</a:t>
            </a:r>
            <a:r>
              <a:rPr lang="ro-RO" sz="2400" dirty="0" smtClean="0"/>
              <a:t>: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Cloudgenix</a:t>
            </a:r>
            <a:r>
              <a:rPr lang="en-US" sz="2300" spc="10" dirty="0" smtClean="0">
                <a:latin typeface="Arial"/>
                <a:cs typeface="Arial"/>
              </a:rPr>
              <a:t> </a:t>
            </a:r>
            <a:endParaRPr lang="en-US" sz="2300" spc="10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Pertino</a:t>
            </a:r>
            <a:endParaRPr lang="en-US" sz="2300" spc="10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VeloCloud</a:t>
            </a:r>
            <a:r>
              <a:rPr lang="en-US" sz="2300" spc="10" dirty="0" smtClean="0">
                <a:latin typeface="Arial"/>
                <a:cs typeface="Arial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Viptela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5400" y="627251"/>
            <a:ext cx="5947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Forta</a:t>
            </a:r>
            <a:r>
              <a:rPr lang="en-US" sz="40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40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munca</a:t>
            </a:r>
            <a:r>
              <a:rPr lang="en-US" sz="40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moderna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353" name="object 353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39245" y="559727"/>
            <a:ext cx="6938793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>
                <a:solidFill>
                  <a:srgbClr val="7030A0"/>
                </a:solidFill>
                <a:latin typeface="Arial"/>
                <a:cs typeface="Arial"/>
              </a:rPr>
              <a:t>R</a:t>
            </a: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etele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in cloud </a:t>
            </a: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folosite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lang="en-US" sz="3900" b="1" spc="10" dirty="0" err="1" smtClean="0">
                <a:solidFill>
                  <a:srgbClr val="7030A0"/>
                </a:solidFill>
                <a:latin typeface="Arial"/>
                <a:cs typeface="Arial"/>
              </a:rPr>
              <a:t>zilnic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95400" y="2286000"/>
            <a:ext cx="563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E-mail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Social 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Munca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in Virtual Office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642" name="object 642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4098" name="Picture 2" descr="Image result for thanks yo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80159"/>
            <a:ext cx="5076825" cy="340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133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Vasilescu, Gabriel</cp:lastModifiedBy>
  <cp:revision>2</cp:revision>
  <dcterms:created xsi:type="dcterms:W3CDTF">2018-12-18T08:44:54Z</dcterms:created>
  <dcterms:modified xsi:type="dcterms:W3CDTF">2019-01-07T08:16:59Z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2018-12-18T00:00:00Z</vt:filetime>
  </property>
  <property fmtid="{D5CDD505-2E9C-101B-9397-08002B2CF9AE}" pid="3" name="LastSaved">
    <vt:filetime>2018-12-18T00:00:00Z</vt:filetime>
  </property>
</Properties>
</file>