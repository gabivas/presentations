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4" r:id="rId10"/>
    <p:sldId id="265" r:id="rId11"/>
    <p:sldId id="275" r:id="rId12"/>
    <p:sldId id="274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97" name="object 1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2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67600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35621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803642" y="1219200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467600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635621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803642" y="1387094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71663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467600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635621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803642" y="1554988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971663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139684" y="15549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7600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635621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803642" y="1723009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971663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67600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635621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803642" y="1890903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971663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39684" y="18909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467600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635621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803642" y="2058797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971663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467600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635621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803642" y="2226691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971663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635621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971663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467600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635621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803642" y="1219200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467600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635621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803642" y="1387094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971663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467600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635621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803642" y="1554988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971663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139684" y="15549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467600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635621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803642" y="1723009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971663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467600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635621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803642" y="1890903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971663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139684" y="18909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467600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635621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803642" y="2058797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971663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467600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635621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803642" y="2226691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971663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35621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971663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text 1"/>
          <p:cNvSpPr txBox="1"/>
          <p:nvPr/>
        </p:nvSpPr>
        <p:spPr>
          <a:xfrm>
            <a:off x="2045969" y="328438"/>
            <a:ext cx="4366260" cy="61555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4000" b="1" spc="10" dirty="0" smtClean="0">
                <a:solidFill>
                  <a:srgbClr val="7030A0"/>
                </a:solidFill>
                <a:latin typeface="Arial"/>
                <a:cs typeface="Arial"/>
              </a:rPr>
              <a:t>Cloud</a:t>
            </a:r>
            <a:r>
              <a:rPr lang="en-US" sz="2880" b="1" spc="10" dirty="0" smtClean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lang="en-US" sz="4000" b="1" spc="10" dirty="0" smtClean="0">
                <a:solidFill>
                  <a:srgbClr val="7030A0"/>
                </a:solidFill>
                <a:latin typeface="Arial"/>
                <a:cs typeface="Arial"/>
              </a:rPr>
              <a:t>Networking</a:t>
            </a:r>
            <a:endParaRPr sz="40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100" name="text 1"/>
          <p:cNvSpPr txBox="1"/>
          <p:nvPr/>
        </p:nvSpPr>
        <p:spPr>
          <a:xfrm>
            <a:off x="6051489" y="4592527"/>
            <a:ext cx="3072251" cy="184665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000" spc="10" dirty="0" smtClean="0">
                <a:latin typeface="Arial"/>
                <a:cs typeface="Arial"/>
              </a:rPr>
              <a:t>Gabriel Vasilescu</a:t>
            </a:r>
          </a:p>
          <a:p>
            <a:pPr marL="0">
              <a:lnSpc>
                <a:spcPct val="100000"/>
              </a:lnSpc>
            </a:pPr>
            <a:r>
              <a:rPr lang="en-US" sz="3000" spc="10" dirty="0" smtClean="0">
                <a:latin typeface="Arial"/>
                <a:cs typeface="Arial"/>
              </a:rPr>
              <a:t>Andrei </a:t>
            </a:r>
            <a:r>
              <a:rPr lang="en-US" sz="3000" spc="10" dirty="0" err="1" smtClean="0">
                <a:latin typeface="Arial"/>
                <a:cs typeface="Arial"/>
              </a:rPr>
              <a:t>Turcu</a:t>
            </a:r>
            <a:endParaRPr lang="en-US" sz="3000" spc="10" dirty="0" smtClean="0">
              <a:latin typeface="Arial"/>
              <a:cs typeface="Arial"/>
            </a:endParaRPr>
          </a:p>
          <a:p>
            <a:pPr marL="0">
              <a:lnSpc>
                <a:spcPct val="100000"/>
              </a:lnSpc>
            </a:pPr>
            <a:r>
              <a:rPr lang="en-US" sz="3000" spc="10" dirty="0" smtClean="0">
                <a:latin typeface="Arial"/>
                <a:cs typeface="Arial"/>
              </a:rPr>
              <a:t>Cosmin </a:t>
            </a:r>
            <a:r>
              <a:rPr lang="en-US" sz="3000" spc="10" dirty="0" err="1" smtClean="0">
                <a:latin typeface="Arial"/>
                <a:cs typeface="Arial"/>
              </a:rPr>
              <a:t>Chiriac</a:t>
            </a:r>
            <a:endParaRPr lang="en-US" sz="3000" spc="10" dirty="0" smtClean="0">
              <a:latin typeface="Arial"/>
              <a:cs typeface="Arial"/>
            </a:endParaRPr>
          </a:p>
          <a:p>
            <a:pPr marL="0">
              <a:lnSpc>
                <a:spcPct val="100000"/>
              </a:lnSpc>
            </a:pPr>
            <a:r>
              <a:rPr lang="en-US" sz="3000" spc="10" dirty="0" err="1" smtClean="0">
                <a:latin typeface="Arial"/>
                <a:cs typeface="Arial"/>
              </a:rPr>
              <a:t>Mihnea</a:t>
            </a:r>
            <a:r>
              <a:rPr lang="en-US" sz="3000" spc="10" dirty="0" smtClean="0">
                <a:latin typeface="Arial"/>
                <a:cs typeface="Arial"/>
              </a:rPr>
              <a:t> </a:t>
            </a:r>
            <a:r>
              <a:rPr lang="en-US" sz="3000" spc="10" dirty="0" err="1" smtClean="0">
                <a:latin typeface="Arial"/>
                <a:cs typeface="Arial"/>
              </a:rPr>
              <a:t>Vorovenci</a:t>
            </a:r>
            <a:endParaRPr sz="3000" dirty="0">
              <a:latin typeface="Arial"/>
              <a:cs typeface="Arial"/>
            </a:endParaRPr>
          </a:p>
        </p:txBody>
      </p:sp>
      <p:pic>
        <p:nvPicPr>
          <p:cNvPr id="3074" name="Picture 2" descr="Image result for cloud ph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30" y="1890903"/>
            <a:ext cx="5307970" cy="410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452437" y="196674"/>
            <a:ext cx="7150997" cy="183127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Cloud Networking or </a:t>
            </a:r>
            <a:endParaRPr lang="en-US" sz="4000" b="1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Based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Networking</a:t>
            </a:r>
            <a:r>
              <a:rPr lang="en-US" sz="4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n-US" sz="4000" dirty="0">
                <a:solidFill>
                  <a:srgbClr val="7030A0"/>
                </a:solidFill>
              </a:rPr>
              <a:t/>
            </a:r>
            <a:br>
              <a:rPr lang="en-US" sz="4000" dirty="0">
                <a:solidFill>
                  <a:srgbClr val="7030A0"/>
                </a:solidFill>
              </a:rPr>
            </a:b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389089" y="2590800"/>
            <a:ext cx="8206798" cy="19697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200" dirty="0" smtClean="0"/>
              <a:t> - is </a:t>
            </a:r>
            <a:r>
              <a:rPr lang="en-US" sz="3200" dirty="0"/>
              <a:t>a term describing the access of networking </a:t>
            </a:r>
            <a:endParaRPr lang="en-US" sz="3200" dirty="0" smtClean="0"/>
          </a:p>
          <a:p>
            <a:r>
              <a:rPr lang="en-US" sz="3200" dirty="0" smtClean="0"/>
              <a:t>resources </a:t>
            </a:r>
            <a:r>
              <a:rPr lang="en-US" sz="3200" dirty="0"/>
              <a:t>from a centralized third-party provider </a:t>
            </a:r>
            <a:endParaRPr lang="en-US" sz="3200" dirty="0" smtClean="0"/>
          </a:p>
          <a:p>
            <a:r>
              <a:rPr lang="en-US" sz="3200" dirty="0" smtClean="0"/>
              <a:t>using </a:t>
            </a:r>
            <a:r>
              <a:rPr lang="en-US" sz="3200" dirty="0"/>
              <a:t>Wide Area Networking (WAN) or </a:t>
            </a:r>
            <a:endParaRPr lang="en-US" sz="3200" dirty="0" smtClean="0"/>
          </a:p>
          <a:p>
            <a:r>
              <a:rPr lang="en-US" sz="3200" dirty="0" smtClean="0"/>
              <a:t>Internet-based </a:t>
            </a:r>
            <a:r>
              <a:rPr lang="en-US" sz="3200" dirty="0"/>
              <a:t>access technologies.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129" name="object 129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6654386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Cloud Networking Schemas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98" y="1985963"/>
            <a:ext cx="8345272" cy="403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161" name="object 161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228600" y="223938"/>
            <a:ext cx="7777162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Cloud networking VS </a:t>
            </a: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C</a:t>
            </a: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loud</a:t>
            </a:r>
          </a:p>
          <a:p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computing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33151" y="2667000"/>
            <a:ext cx="8284319" cy="184665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000" dirty="0" smtClean="0">
                <a:latin typeface="Arial"/>
                <a:cs typeface="Arial"/>
              </a:rPr>
              <a:t>Cloud networking is related the concept of cloud </a:t>
            </a:r>
          </a:p>
          <a:p>
            <a:r>
              <a:rPr lang="en-US" sz="3000" dirty="0" smtClean="0">
                <a:latin typeface="Arial"/>
                <a:cs typeface="Arial"/>
              </a:rPr>
              <a:t>computing, in which centralized computing </a:t>
            </a:r>
          </a:p>
          <a:p>
            <a:r>
              <a:rPr lang="en-US" sz="3000" dirty="0" smtClean="0">
                <a:latin typeface="Arial"/>
                <a:cs typeface="Arial"/>
              </a:rPr>
              <a:t>resources are shared for customers or clients.</a:t>
            </a:r>
          </a:p>
          <a:p>
            <a:pPr marL="0">
              <a:lnSpc>
                <a:spcPct val="100000"/>
              </a:lnSpc>
            </a:pP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193" name="object 193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7603748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Wireless LAN Leads the Charge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289312" y="2438400"/>
            <a:ext cx="8646919" cy="184665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000" spc="10" dirty="0" smtClean="0">
                <a:latin typeface="Arial"/>
                <a:cs typeface="Arial"/>
              </a:rPr>
              <a:t>	The Companies </a:t>
            </a:r>
            <a:r>
              <a:rPr lang="en-US" sz="3000" spc="10" dirty="0" smtClean="0">
                <a:latin typeface="Arial"/>
                <a:cs typeface="Arial"/>
              </a:rPr>
              <a:t>popularized the use of cloud 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networking techniques to create large, distributed 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Wireless LANs that could be centrally managed in 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the cloud.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225" name="object 225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text 1"/>
          <p:cNvSpPr txBox="1"/>
          <p:nvPr/>
        </p:nvSpPr>
        <p:spPr>
          <a:xfrm>
            <a:off x="548640" y="811212"/>
            <a:ext cx="6075702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Cloud services and types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pic>
        <p:nvPicPr>
          <p:cNvPr id="1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940" y="6442558"/>
            <a:ext cx="1132027" cy="41544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28788"/>
            <a:ext cx="6781799" cy="4582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257" name="object 257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5448286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Software-Defined WAN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304801" y="2895600"/>
            <a:ext cx="9910204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spc="10" dirty="0" smtClean="0">
                <a:latin typeface="Arial"/>
                <a:cs typeface="Arial"/>
              </a:rPr>
              <a:t>   Cloud networking is a form of Software Defined    Networking (SDN) technology, in which groups of   networking switches and access devices can deploy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over the wide area as shared, virtual resources.</a:t>
            </a:r>
            <a:endParaRPr sz="3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612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257" name="object 257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6960880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Software-Defined WAN- cont.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304801" y="1790954"/>
            <a:ext cx="9910204" cy="369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spc="10" dirty="0">
                <a:latin typeface="Arial"/>
                <a:cs typeface="Arial"/>
              </a:rPr>
              <a:t> </a:t>
            </a:r>
            <a:r>
              <a:rPr lang="en-US" sz="3000" spc="10" dirty="0" smtClean="0">
                <a:latin typeface="Arial"/>
                <a:cs typeface="Arial"/>
              </a:rPr>
              <a:t>    </a:t>
            </a:r>
            <a:r>
              <a:rPr lang="en-US" sz="3000" spc="10" dirty="0" smtClean="0">
                <a:latin typeface="Arial"/>
                <a:cs typeface="Arial"/>
              </a:rPr>
              <a:t>The basic concept of cloud networking, in which 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 fewer management devices are installed in the 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 branch offices or client premises and more routing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 and management functions are pushed to the 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 cloud, is now being pursued resulting in a wider 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 range of networking products, which include branch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 office routers, WAN optimization software, and </a:t>
            </a:r>
          </a:p>
          <a:p>
            <a:r>
              <a:rPr lang="en-US" sz="3000" spc="10" dirty="0" smtClean="0">
                <a:latin typeface="Arial"/>
                <a:cs typeface="Arial"/>
              </a:rPr>
              <a:t> firewalls.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321" name="object 321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text 1"/>
          <p:cNvSpPr txBox="1"/>
          <p:nvPr/>
        </p:nvSpPr>
        <p:spPr>
          <a:xfrm>
            <a:off x="901743" y="2667000"/>
            <a:ext cx="7091362" cy="2123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spc="10" dirty="0" smtClean="0">
                <a:latin typeface="Arial"/>
                <a:cs typeface="Arial"/>
              </a:rPr>
              <a:t>   Companies pursuing new technology for optimizing connectivity using SD-WAN: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spc="10" dirty="0" err="1" smtClean="0">
                <a:latin typeface="Arial"/>
                <a:cs typeface="Arial"/>
              </a:rPr>
              <a:t>Cloudgenix</a:t>
            </a:r>
            <a:r>
              <a:rPr lang="en-US" sz="2300" spc="10" dirty="0" smtClean="0">
                <a:latin typeface="Arial"/>
                <a:cs typeface="Arial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spc="10" dirty="0" err="1" smtClean="0">
                <a:latin typeface="Arial"/>
                <a:cs typeface="Arial"/>
              </a:rPr>
              <a:t>Pertino</a:t>
            </a:r>
            <a:endParaRPr lang="en-US" sz="2300" spc="10" dirty="0" smtClean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spc="10" dirty="0" err="1" smtClean="0">
                <a:latin typeface="Arial"/>
                <a:cs typeface="Arial"/>
              </a:rPr>
              <a:t>VeloCloud</a:t>
            </a:r>
            <a:r>
              <a:rPr lang="en-US" sz="2300" spc="10" dirty="0" smtClean="0">
                <a:latin typeface="Arial"/>
                <a:cs typeface="Arial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spc="10" dirty="0" err="1" smtClean="0">
                <a:latin typeface="Arial"/>
                <a:cs typeface="Arial"/>
              </a:rPr>
              <a:t>Viptela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95400" y="627251"/>
            <a:ext cx="53190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modern workforce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353" name="object 353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7275068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Examples</a:t>
            </a:r>
            <a:r>
              <a:rPr lang="en-US" sz="3900" b="1" spc="10" dirty="0" smtClean="0">
                <a:solidFill>
                  <a:srgbClr val="7030A0"/>
                </a:solidFill>
                <a:latin typeface="Arial"/>
                <a:cs typeface="Arial"/>
              </a:rPr>
              <a:t> of cloud networking</a:t>
            </a:r>
            <a:endParaRPr sz="3900" dirty="0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95400" y="2286000"/>
            <a:ext cx="563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E-mail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Social Networking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Virtual Office - working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679" name="object 679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0" name="object 680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1" name="object 681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2" name="object 682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3" name="object 683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4" name="object 684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5" name="object 685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6" name="object 686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7" name="object 687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8" name="object 688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9" name="object 689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0" name="object 690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1" name="object 691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2" name="object 692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3" name="object 693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4" name="object 694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5" name="object 695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6" name="object 696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7" name="object 697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8" name="object 698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9" name="object 699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0" name="object 700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1" name="object 701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2" name="object 702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3" name="object 703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4" name="object 704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5" name="object 705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6" name="object 706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7" name="object 707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8" name="object 708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9" name="object 709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0" name="object 710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2563012" cy="5527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z="3900" b="1" spc="10" dirty="0">
                <a:solidFill>
                  <a:srgbClr val="330066"/>
                </a:solidFill>
                <a:latin typeface="Arial"/>
                <a:cs typeface="Arial"/>
              </a:rPr>
              <a:t>Questions</a:t>
            </a:r>
            <a:endParaRPr sz="3900">
              <a:latin typeface="Arial"/>
              <a:cs typeface="Arial"/>
            </a:endParaRPr>
          </a:p>
        </p:txBody>
      </p:sp>
      <p:pic>
        <p:nvPicPr>
          <p:cNvPr id="4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981238"/>
            <a:ext cx="2743200" cy="38905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642" name="object 642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3" name="object 643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4" name="object 644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5" name="object 645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6" name="object 646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7" name="object 647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8" name="object 648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9" name="object 649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0" name="object 650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1" name="object 651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2" name="object 652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3" name="object 653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4" name="object 654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5" name="object 655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6" name="object 656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7" name="object 657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8" name="object 658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9" name="object 659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0" name="object 660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1" name="object 661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2" name="object 662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3" name="object 663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4" name="object 664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5" name="object 665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6" name="object 666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7" name="object 667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8" name="object 668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9" name="object 669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0" name="object 670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1" name="object 671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2" name="object 672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4098" name="Picture 2" descr="Image result for thanks yo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80159"/>
            <a:ext cx="5076825" cy="340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225</Words>
  <Application>Microsoft Office PowerPoint</Application>
  <PresentationFormat>On-screen Show (4:3)</PresentationFormat>
  <Paragraphs>46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Vasilescu, Gabriel</cp:lastModifiedBy>
  <cp:revision>1</cp:revision>
  <dcterms:created xsi:type="dcterms:W3CDTF">2018-12-18T08:44:54Z</dcterms:created>
  <dcterms:modified xsi:type="dcterms:W3CDTF">2019-01-06T14:40:02Z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2018-12-18T00:00:00Z</vt:filetime>
  </property>
  <property fmtid="{D5CDD505-2E9C-101B-9397-08002B2CF9AE}" pid="3" name="LastSaved">
    <vt:filetime>2018-12-18T00:00:00Z</vt:filetime>
  </property>
</Properties>
</file>